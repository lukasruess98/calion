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087600" cy="10058400"/>
  <p:notesSz cx="10058400" cy="15087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6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0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EFD7-AB90-3969-DD6D-A1141A0F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E80DF-26A6-3FB7-30F6-1B44861D0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6F0DC-B200-6D47-A262-47351623E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033A0-A8AC-0524-75A8-24F7F2EB9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108960"/>
            <a:ext cx="1097280" cy="1463040"/>
          </a:xfrm>
          <a:prstGeom prst="line">
            <a:avLst/>
          </a:prstGeom>
          <a:noFill/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 rot="3187806">
            <a:off x="598932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 flipH="1">
            <a:off x="7040880" y="3200400"/>
            <a:ext cx="274320" cy="1371600"/>
          </a:xfrm>
          <a:prstGeom prst="line">
            <a:avLst/>
          </a:prstGeom>
          <a:noFill/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 rot="-4721404">
            <a:off x="667512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 flipH="1">
            <a:off x="7040880" y="4114800"/>
            <a:ext cx="1371600" cy="457200"/>
          </a:xfrm>
          <a:prstGeom prst="line">
            <a:avLst/>
          </a:prstGeom>
          <a:noFill/>
          <a:ln w="3302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 rot="-1106097">
            <a:off x="7223760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flipH="1">
            <a:off x="5852160" y="4572000"/>
            <a:ext cx="1188720" cy="1005840"/>
          </a:xfrm>
          <a:prstGeom prst="line">
            <a:avLst/>
          </a:prstGeom>
          <a:noFill/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 rot="19185819">
            <a:off x="5943600" y="4937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4023360"/>
            <a:ext cx="1005840" cy="548640"/>
          </a:xfrm>
          <a:prstGeom prst="line">
            <a:avLst/>
          </a:prstGeom>
          <a:noFill/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 rot="1716628">
            <a:off x="603504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 flipH="1">
            <a:off x="7040880" y="2926080"/>
            <a:ext cx="2286000" cy="1645920"/>
          </a:xfrm>
          <a:prstGeom prst="line">
            <a:avLst/>
          </a:prstGeom>
          <a:noFill/>
          <a:ln w="457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 rot="-2145233">
            <a:off x="768096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DN350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flipH="1">
            <a:off x="9326880" y="1234440"/>
            <a:ext cx="914400" cy="1691640"/>
          </a:xfrm>
          <a:prstGeom prst="line">
            <a:avLst/>
          </a:prstGeom>
          <a:noFill/>
          <a:ln w="457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 rot="-3696419">
            <a:off x="9281160" y="19431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DN350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H="1">
            <a:off x="9326880" y="1920240"/>
            <a:ext cx="2194560" cy="1005840"/>
          </a:xfrm>
          <a:prstGeom prst="line">
            <a:avLst/>
          </a:prstGeom>
          <a:noFill/>
          <a:ln w="330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 rot="-1477414">
            <a:off x="992124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326880" y="2926080"/>
            <a:ext cx="1041766" cy="667512"/>
          </a:xfrm>
          <a:prstGeom prst="line">
            <a:avLst/>
          </a:prstGeom>
          <a:noFill/>
          <a:ln w="2794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 rot="779677">
            <a:off x="9478679" y="319989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52560" y="1554480"/>
            <a:ext cx="274320" cy="1371600"/>
          </a:xfrm>
          <a:prstGeom prst="line">
            <a:avLst/>
          </a:prstGeom>
          <a:noFill/>
          <a:ln w="330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 rot="4721404">
            <a:off x="86868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326880" y="2926080"/>
            <a:ext cx="2011680" cy="91440"/>
          </a:xfrm>
          <a:prstGeom prst="line">
            <a:avLst/>
          </a:prstGeom>
          <a:noFill/>
          <a:ln w="2794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 rot="156154">
            <a:off x="982980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H="1">
            <a:off x="9326880" y="1188720"/>
            <a:ext cx="2560320" cy="1737360"/>
          </a:xfrm>
          <a:prstGeom prst="line">
            <a:avLst/>
          </a:prstGeom>
          <a:noFill/>
          <a:ln w="2794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 rot="-2049582">
            <a:off x="1010412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 flipH="1">
            <a:off x="6766560" y="4572000"/>
            <a:ext cx="274320" cy="1463040"/>
          </a:xfrm>
          <a:prstGeom prst="line">
            <a:avLst/>
          </a:prstGeom>
          <a:noFill/>
          <a:ln w="5334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 rot="16837179">
            <a:off x="6400800" y="5166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DN400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94960" y="5943600"/>
            <a:ext cx="1371600" cy="91440"/>
          </a:xfrm>
          <a:prstGeom prst="line">
            <a:avLst/>
          </a:prstGeom>
          <a:noFill/>
          <a:ln w="190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 rot="228844">
            <a:off x="557784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flipH="1">
            <a:off x="6766560" y="5943600"/>
            <a:ext cx="1280160" cy="91440"/>
          </a:xfrm>
          <a:prstGeom prst="line">
            <a:avLst/>
          </a:prstGeom>
          <a:noFill/>
          <a:ln w="2794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 rot="-245137">
            <a:off x="690372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flipH="1">
            <a:off x="6583680" y="6035040"/>
            <a:ext cx="182880" cy="2194560"/>
          </a:xfrm>
          <a:prstGeom prst="line">
            <a:avLst/>
          </a:prstGeom>
          <a:noFill/>
          <a:ln w="4572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 rot="16485819">
            <a:off x="6172200" y="6995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DN350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 flipH="1">
            <a:off x="6583680" y="8046720"/>
            <a:ext cx="1554480" cy="182880"/>
          </a:xfrm>
          <a:prstGeom prst="line">
            <a:avLst/>
          </a:prstGeom>
          <a:noFill/>
          <a:ln w="228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 rot="-402590">
            <a:off x="6858000" y="8001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6583680" y="7223760"/>
            <a:ext cx="1645920" cy="1005840"/>
          </a:xfrm>
          <a:prstGeom prst="line">
            <a:avLst/>
          </a:prstGeom>
          <a:noFill/>
          <a:ln w="190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 rot="-1885774">
            <a:off x="6903720" y="7589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37760" y="7955280"/>
            <a:ext cx="1645920" cy="274320"/>
          </a:xfrm>
          <a:prstGeom prst="line">
            <a:avLst/>
          </a:prstGeom>
          <a:noFill/>
          <a:ln w="228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 rot="567739">
            <a:off x="5257800" y="7955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5669280" y="8229600"/>
            <a:ext cx="914400" cy="822960"/>
          </a:xfrm>
          <a:prstGeom prst="line">
            <a:avLst/>
          </a:prstGeom>
          <a:noFill/>
          <a:ln w="4064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 rot="19080767">
            <a:off x="5623560" y="8503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8229600"/>
            <a:ext cx="640080" cy="868680"/>
          </a:xfrm>
          <a:prstGeom prst="line">
            <a:avLst/>
          </a:prstGeom>
          <a:noFill/>
          <a:ln w="228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 rot="3216939">
            <a:off x="6400800" y="85267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flipH="1">
            <a:off x="4937760" y="4572000"/>
            <a:ext cx="2103120" cy="182880"/>
          </a:xfrm>
          <a:prstGeom prst="line">
            <a:avLst/>
          </a:prstGeom>
          <a:noFill/>
          <a:ln w="533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 rot="21301816">
            <a:off x="548640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DN400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06240" y="3108960"/>
            <a:ext cx="731520" cy="1645920"/>
          </a:xfrm>
          <a:prstGeom prst="line">
            <a:avLst/>
          </a:prstGeom>
          <a:noFill/>
          <a:ln w="190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 rot="3962251">
            <a:off x="406908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flipH="1">
            <a:off x="4114800" y="4754880"/>
            <a:ext cx="822960" cy="731520"/>
          </a:xfrm>
          <a:prstGeom prst="line">
            <a:avLst/>
          </a:prstGeom>
          <a:noFill/>
          <a:ln w="2286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 rot="19101988">
            <a:off x="4023360" y="4983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2468880" y="4754880"/>
            <a:ext cx="2468880" cy="91440"/>
          </a:xfrm>
          <a:prstGeom prst="line">
            <a:avLst/>
          </a:prstGeom>
          <a:noFill/>
          <a:ln w="406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 rot="21472734">
            <a:off x="3200400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 flipH="1">
            <a:off x="2468880" y="2743200"/>
            <a:ext cx="548640" cy="2103120"/>
          </a:xfrm>
          <a:prstGeom prst="line">
            <a:avLst/>
          </a:prstGeom>
          <a:noFill/>
          <a:ln w="3302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 rot="-4522748">
            <a:off x="224028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0" y="3108960"/>
            <a:ext cx="640080" cy="1737360"/>
          </a:xfrm>
          <a:prstGeom prst="line">
            <a:avLst/>
          </a:prstGeom>
          <a:noFill/>
          <a:ln w="190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 rot="4186508">
            <a:off x="164592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188720" y="4114800"/>
            <a:ext cx="1280160" cy="731520"/>
          </a:xfrm>
          <a:prstGeom prst="line">
            <a:avLst/>
          </a:prstGeom>
          <a:noFill/>
          <a:ln w="190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 rot="1784693">
            <a:off x="132588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 flipH="1">
            <a:off x="1097280" y="4846320"/>
            <a:ext cx="1371600" cy="365760"/>
          </a:xfrm>
          <a:prstGeom prst="line">
            <a:avLst/>
          </a:prstGeom>
          <a:noFill/>
          <a:ln w="279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 rot="20704115">
            <a:off x="1280160" y="4892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 flipH="1">
            <a:off x="2103120" y="4846320"/>
            <a:ext cx="365760" cy="1463040"/>
          </a:xfrm>
          <a:prstGeom prst="line">
            <a:avLst/>
          </a:prstGeom>
          <a:noFill/>
          <a:ln w="279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 rot="17042175">
            <a:off x="1783080" y="5440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68880" y="4846320"/>
            <a:ext cx="822960" cy="1645920"/>
          </a:xfrm>
          <a:prstGeom prst="line">
            <a:avLst/>
          </a:prstGeom>
          <a:noFill/>
          <a:ln w="2286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 rot="3806097">
            <a:off x="2377440" y="5532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583680" y="4114800"/>
            <a:ext cx="91440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6693408" y="4224528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/>
          <p:cNvSpPr/>
          <p:nvPr/>
        </p:nvSpPr>
        <p:spPr>
          <a:xfrm>
            <a:off x="6693408" y="4224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705856" y="28712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6"/>
          <p:cNvSpPr/>
          <p:nvPr/>
        </p:nvSpPr>
        <p:spPr>
          <a:xfrm>
            <a:off x="5705856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077456" y="29626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7077456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174736" y="38770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70"/>
          <p:cNvSpPr/>
          <p:nvPr/>
        </p:nvSpPr>
        <p:spPr>
          <a:xfrm>
            <a:off x="8174736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614416" y="534009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Text 72"/>
          <p:cNvSpPr/>
          <p:nvPr/>
        </p:nvSpPr>
        <p:spPr>
          <a:xfrm>
            <a:off x="5614416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97296" y="37856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4"/>
          <p:cNvSpPr/>
          <p:nvPr/>
        </p:nvSpPr>
        <p:spPr>
          <a:xfrm>
            <a:off x="5797296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9052560" y="26517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Text 76"/>
          <p:cNvSpPr/>
          <p:nvPr/>
        </p:nvSpPr>
        <p:spPr>
          <a:xfrm>
            <a:off x="90525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9893808" y="886968"/>
            <a:ext cx="694944" cy="694944"/>
          </a:xfrm>
          <a:prstGeom prst="ellipse">
            <a:avLst/>
          </a:prstGeom>
          <a:solidFill>
            <a:srgbClr val="FFFFFF"/>
          </a:solidFill>
          <a:ln w="3556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0" name="Text 78"/>
          <p:cNvSpPr/>
          <p:nvPr/>
        </p:nvSpPr>
        <p:spPr>
          <a:xfrm>
            <a:off x="9893808" y="886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932688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 MW gas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1173968" y="1572768"/>
            <a:ext cx="694944" cy="694944"/>
          </a:xfrm>
          <a:prstGeom prst="ellipse">
            <a:avLst/>
          </a:prstGeom>
          <a:solidFill>
            <a:srgbClr val="FFFFFF"/>
          </a:solidFill>
          <a:ln w="3556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" name="Text 81"/>
          <p:cNvSpPr/>
          <p:nvPr/>
        </p:nvSpPr>
        <p:spPr>
          <a:xfrm>
            <a:off x="11173968" y="1572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10607040" y="2313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MW biomass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277856" y="3476222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Text 84"/>
          <p:cNvSpPr/>
          <p:nvPr/>
        </p:nvSpPr>
        <p:spPr>
          <a:xfrm>
            <a:off x="10277856" y="3476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814816" y="13167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8" name="Text 86"/>
          <p:cNvSpPr/>
          <p:nvPr/>
        </p:nvSpPr>
        <p:spPr>
          <a:xfrm>
            <a:off x="881481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11100816" y="277977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88"/>
          <p:cNvSpPr/>
          <p:nvPr/>
        </p:nvSpPr>
        <p:spPr>
          <a:xfrm>
            <a:off x="11100816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C8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1649456" y="95097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90"/>
          <p:cNvSpPr/>
          <p:nvPr/>
        </p:nvSpPr>
        <p:spPr>
          <a:xfrm>
            <a:off x="11649456" y="950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C9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492240" y="57607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92"/>
          <p:cNvSpPr/>
          <p:nvPr/>
        </p:nvSpPr>
        <p:spPr>
          <a:xfrm>
            <a:off x="6492240" y="5760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PS1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6236208" y="7882128"/>
            <a:ext cx="694944" cy="694944"/>
          </a:xfrm>
          <a:prstGeom prst="ellipse">
            <a:avLst/>
          </a:prstGeom>
          <a:solidFill>
            <a:srgbClr val="FFFFFF"/>
          </a:solidFill>
          <a:ln w="355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" name="Text 94"/>
          <p:cNvSpPr/>
          <p:nvPr/>
        </p:nvSpPr>
        <p:spPr>
          <a:xfrm>
            <a:off x="6236208" y="7882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5669280" y="8622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MW gas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157216" y="57058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" name="Text 97"/>
          <p:cNvSpPr/>
          <p:nvPr/>
        </p:nvSpPr>
        <p:spPr>
          <a:xfrm>
            <a:off x="5157216" y="5705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7808976" y="57058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1" name="Text 99"/>
          <p:cNvSpPr/>
          <p:nvPr/>
        </p:nvSpPr>
        <p:spPr>
          <a:xfrm>
            <a:off x="7808976" y="5705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C11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7900416" y="780897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" name="Text 101"/>
          <p:cNvSpPr/>
          <p:nvPr/>
        </p:nvSpPr>
        <p:spPr>
          <a:xfrm>
            <a:off x="7900416" y="7808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C12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7991856" y="69860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5" name="Text 103"/>
          <p:cNvSpPr/>
          <p:nvPr/>
        </p:nvSpPr>
        <p:spPr>
          <a:xfrm>
            <a:off x="7991856" y="6986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C13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4700016" y="77175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" name="Text 105"/>
          <p:cNvSpPr/>
          <p:nvPr/>
        </p:nvSpPr>
        <p:spPr>
          <a:xfrm>
            <a:off x="4700016" y="7717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C14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5431536" y="88148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9" name="Text 107"/>
          <p:cNvSpPr/>
          <p:nvPr/>
        </p:nvSpPr>
        <p:spPr>
          <a:xfrm>
            <a:off x="5431536" y="8814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C15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6986016" y="88605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" name="Text 109"/>
          <p:cNvSpPr/>
          <p:nvPr/>
        </p:nvSpPr>
        <p:spPr>
          <a:xfrm>
            <a:off x="6986016" y="8860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4663440" y="4480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3" name="Text 111"/>
          <p:cNvSpPr/>
          <p:nvPr/>
        </p:nvSpPr>
        <p:spPr>
          <a:xfrm>
            <a:off x="46634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PS2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2121408" y="4498848"/>
            <a:ext cx="694944" cy="694944"/>
          </a:xfrm>
          <a:prstGeom prst="ellipse">
            <a:avLst/>
          </a:prstGeom>
          <a:solidFill>
            <a:srgbClr val="FFFFFF"/>
          </a:solidFill>
          <a:ln w="3556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5" name="Text 113"/>
          <p:cNvSpPr/>
          <p:nvPr/>
        </p:nvSpPr>
        <p:spPr>
          <a:xfrm>
            <a:off x="2121408" y="4498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1554480" y="5239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MW gas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3968496" y="28712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" name="Text 116"/>
          <p:cNvSpPr/>
          <p:nvPr/>
        </p:nvSpPr>
        <p:spPr>
          <a:xfrm>
            <a:off x="3968496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C17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2779776" y="25054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0" name="Text 118"/>
          <p:cNvSpPr/>
          <p:nvPr/>
        </p:nvSpPr>
        <p:spPr>
          <a:xfrm>
            <a:off x="277977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C18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1591056" y="28712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" name="Text 120"/>
          <p:cNvSpPr/>
          <p:nvPr/>
        </p:nvSpPr>
        <p:spPr>
          <a:xfrm>
            <a:off x="1591056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C19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950976" y="38770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" name="Text 122"/>
          <p:cNvSpPr/>
          <p:nvPr/>
        </p:nvSpPr>
        <p:spPr>
          <a:xfrm>
            <a:off x="950976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C20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59536" y="49743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" name="Text 124"/>
          <p:cNvSpPr/>
          <p:nvPr/>
        </p:nvSpPr>
        <p:spPr>
          <a:xfrm>
            <a:off x="859536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C21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3877056" y="52486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8" name="Text 126"/>
          <p:cNvSpPr/>
          <p:nvPr/>
        </p:nvSpPr>
        <p:spPr>
          <a:xfrm>
            <a:off x="3877056" y="5248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C22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1865376" y="60716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0" name="Text 128"/>
          <p:cNvSpPr/>
          <p:nvPr/>
        </p:nvSpPr>
        <p:spPr>
          <a:xfrm>
            <a:off x="1865376" y="6071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C23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3054096" y="625449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" name="Text 130"/>
          <p:cNvSpPr/>
          <p:nvPr/>
        </p:nvSpPr>
        <p:spPr>
          <a:xfrm>
            <a:off x="3054096" y="6254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C24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7478686" y="4783936"/>
            <a:ext cx="843460" cy="391568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34" name="Shape 132"/>
          <p:cNvSpPr/>
          <p:nvPr/>
        </p:nvSpPr>
        <p:spPr>
          <a:xfrm>
            <a:off x="8370894" y="4773669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" name="Text 133"/>
          <p:cNvSpPr/>
          <p:nvPr/>
        </p:nvSpPr>
        <p:spPr>
          <a:xfrm>
            <a:off x="8430768" y="4812813"/>
            <a:ext cx="2743200" cy="8686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CHP, gas turbine,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P2H, storage, heat pump</a:t>
            </a:r>
            <a:endParaRPr lang="en-US" sz="1250" dirty="0"/>
          </a:p>
        </p:txBody>
      </p:sp>
      <p:sp>
        <p:nvSpPr>
          <p:cNvPr id="136" name="Shape 134"/>
          <p:cNvSpPr/>
          <p:nvPr/>
        </p:nvSpPr>
        <p:spPr>
          <a:xfrm>
            <a:off x="457200" y="548640"/>
            <a:ext cx="347472" cy="457200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7" name="Text 135"/>
          <p:cNvSpPr/>
          <p:nvPr/>
        </p:nvSpPr>
        <p:spPr>
          <a:xfrm>
            <a:off x="411480" y="16459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138" name="Text 136"/>
          <p:cNvSpPr/>
          <p:nvPr/>
        </p:nvSpPr>
        <p:spPr>
          <a:xfrm>
            <a:off x="365760" y="1234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nodes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pipes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consumers</a:t>
            </a:r>
            <a:endParaRPr lang="en-US" sz="2000" dirty="0"/>
          </a:p>
        </p:txBody>
      </p:sp>
      <p:sp>
        <p:nvSpPr>
          <p:cNvPr id="139" name="Text 137"/>
          <p:cNvSpPr/>
          <p:nvPr/>
        </p:nvSpPr>
        <p:spPr>
          <a:xfrm>
            <a:off x="36576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layout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(anonymized)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12527280" y="365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ZONES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12527280" y="859536"/>
            <a:ext cx="365760" cy="0"/>
          </a:xfrm>
          <a:prstGeom prst="line">
            <a:avLst/>
          </a:prstGeom>
          <a:noFill/>
          <a:ln w="444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2" name="Text 140"/>
          <p:cNvSpPr/>
          <p:nvPr/>
        </p:nvSpPr>
        <p:spPr>
          <a:xfrm>
            <a:off x="13030200" y="749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12527280" y="1207008"/>
            <a:ext cx="365760" cy="0"/>
          </a:xfrm>
          <a:prstGeom prst="line">
            <a:avLst/>
          </a:prstGeom>
          <a:noFill/>
          <a:ln w="444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4" name="Text 142"/>
          <p:cNvSpPr/>
          <p:nvPr/>
        </p:nvSpPr>
        <p:spPr>
          <a:xfrm>
            <a:off x="1303020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12527280" y="1554480"/>
            <a:ext cx="365760" cy="0"/>
          </a:xfrm>
          <a:prstGeom prst="line">
            <a:avLst/>
          </a:prstGeom>
          <a:noFill/>
          <a:ln w="444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" name="Text 144"/>
          <p:cNvSpPr/>
          <p:nvPr/>
        </p:nvSpPr>
        <p:spPr>
          <a:xfrm>
            <a:off x="1303020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12527280" y="1901952"/>
            <a:ext cx="365760" cy="0"/>
          </a:xfrm>
          <a:prstGeom prst="line">
            <a:avLst/>
          </a:prstGeom>
          <a:noFill/>
          <a:ln w="4445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" name="Text 146"/>
          <p:cNvSpPr/>
          <p:nvPr/>
        </p:nvSpPr>
        <p:spPr>
          <a:xfrm>
            <a:off x="1303020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1252728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TYPES</a:t>
            </a:r>
            <a:endParaRPr lang="en-US" sz="1300" dirty="0"/>
          </a:p>
        </p:txBody>
      </p:sp>
      <p:sp>
        <p:nvSpPr>
          <p:cNvPr id="150" name="Shape 148"/>
          <p:cNvSpPr/>
          <p:nvPr/>
        </p:nvSpPr>
        <p:spPr>
          <a:xfrm>
            <a:off x="12545568" y="2706624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1" name="Text 149"/>
          <p:cNvSpPr/>
          <p:nvPr/>
        </p:nvSpPr>
        <p:spPr>
          <a:xfrm>
            <a:off x="13030200" y="26609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(PS1, PS2, N1)</a:t>
            </a:r>
            <a:endParaRPr lang="en-US" sz="1150" dirty="0"/>
          </a:p>
        </p:txBody>
      </p:sp>
      <p:sp>
        <p:nvSpPr>
          <p:cNvPr id="152" name="Shape 150"/>
          <p:cNvSpPr/>
          <p:nvPr/>
        </p:nvSpPr>
        <p:spPr>
          <a:xfrm>
            <a:off x="12554712" y="3099816"/>
            <a:ext cx="201168" cy="20116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" name="Text 151"/>
          <p:cNvSpPr/>
          <p:nvPr/>
        </p:nvSpPr>
        <p:spPr>
          <a:xfrm>
            <a:off x="13030200" y="30449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(C1–C24)</a:t>
            </a:r>
            <a:endParaRPr lang="en-US" sz="1150" dirty="0"/>
          </a:p>
        </p:txBody>
      </p:sp>
      <p:sp>
        <p:nvSpPr>
          <p:cNvPr id="154" name="Text 152"/>
          <p:cNvSpPr/>
          <p:nvPr/>
        </p:nvSpPr>
        <p:spPr>
          <a:xfrm>
            <a:off x="12527280" y="3593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12527280" y="3959352"/>
            <a:ext cx="274320" cy="2743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6" name="Shape 154"/>
          <p:cNvSpPr/>
          <p:nvPr/>
        </p:nvSpPr>
        <p:spPr>
          <a:xfrm>
            <a:off x="12582144" y="4014216"/>
            <a:ext cx="164592" cy="16459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7" name="Text 155"/>
          <p:cNvSpPr/>
          <p:nvPr/>
        </p:nvSpPr>
        <p:spPr>
          <a:xfrm>
            <a:off x="13030200" y="3931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hub (P1)</a:t>
            </a:r>
            <a:endParaRPr lang="en-US" sz="1150" dirty="0"/>
          </a:p>
        </p:txBody>
      </p:sp>
      <p:sp>
        <p:nvSpPr>
          <p:cNvPr id="158" name="Shape 156"/>
          <p:cNvSpPr/>
          <p:nvPr/>
        </p:nvSpPr>
        <p:spPr>
          <a:xfrm>
            <a:off x="12545568" y="4434840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9" name="Text 157"/>
          <p:cNvSpPr/>
          <p:nvPr/>
        </p:nvSpPr>
        <p:spPr>
          <a:xfrm>
            <a:off x="13030200" y="4389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station (P2–P5)</a:t>
            </a:r>
            <a:endParaRPr lang="en-US" sz="1150" dirty="0"/>
          </a:p>
        </p:txBody>
      </p:sp>
      <p:sp>
        <p:nvSpPr>
          <p:cNvPr id="160" name="Text 158"/>
          <p:cNvSpPr/>
          <p:nvPr/>
        </p:nvSpPr>
        <p:spPr>
          <a:xfrm>
            <a:off x="365760" y="9692640"/>
            <a:ext cx="1188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topology — arranged by network zone. Connectivity = MILP tree (30 nodes / 29 pipes). All identifiers anonymized.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092B-780A-BFD5-EB9B-315F3D5D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41B62D-7D23-8A7A-4BD2-7AEC4C4A9E27}"/>
              </a:ext>
            </a:extLst>
          </p:cNvPr>
          <p:cNvSpPr/>
          <p:nvPr/>
        </p:nvSpPr>
        <p:spPr>
          <a:xfrm>
            <a:off x="5943600" y="3108960"/>
            <a:ext cx="1097280" cy="1463040"/>
          </a:xfrm>
          <a:prstGeom prst="line">
            <a:avLst/>
          </a:prstGeom>
          <a:noFill/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F42407-E75C-1F65-1D9D-5A0BB5E916C3}"/>
              </a:ext>
            </a:extLst>
          </p:cNvPr>
          <p:cNvSpPr/>
          <p:nvPr/>
        </p:nvSpPr>
        <p:spPr>
          <a:xfrm rot="3282568">
            <a:off x="5808257" y="328399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27DDA3C-7E97-1267-180B-D59DCF01C883}"/>
              </a:ext>
            </a:extLst>
          </p:cNvPr>
          <p:cNvSpPr/>
          <p:nvPr/>
        </p:nvSpPr>
        <p:spPr>
          <a:xfrm flipH="1">
            <a:off x="7040880" y="3200400"/>
            <a:ext cx="274320" cy="1371600"/>
          </a:xfrm>
          <a:prstGeom prst="line">
            <a:avLst/>
          </a:prstGeom>
          <a:noFill/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5B1D76-AD8A-479F-A59F-0B83FEFFD8AB}"/>
              </a:ext>
            </a:extLst>
          </p:cNvPr>
          <p:cNvSpPr/>
          <p:nvPr/>
        </p:nvSpPr>
        <p:spPr>
          <a:xfrm rot="6231758">
            <a:off x="6832938" y="35428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328603-A8E6-BA30-0453-ACAF0F35DCD5}"/>
              </a:ext>
            </a:extLst>
          </p:cNvPr>
          <p:cNvSpPr/>
          <p:nvPr/>
        </p:nvSpPr>
        <p:spPr>
          <a:xfrm flipH="1">
            <a:off x="7040880" y="4114800"/>
            <a:ext cx="1371600" cy="457200"/>
          </a:xfrm>
          <a:prstGeom prst="line">
            <a:avLst/>
          </a:prstGeom>
          <a:noFill/>
          <a:ln w="3302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4D866E-E1A2-9FE5-2D38-A1EC75C59CBD}"/>
              </a:ext>
            </a:extLst>
          </p:cNvPr>
          <p:cNvSpPr/>
          <p:nvPr/>
        </p:nvSpPr>
        <p:spPr>
          <a:xfrm rot="20408693">
            <a:off x="7543800" y="419088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58A742F-2982-CDD4-DBAA-C86AC1241CED}"/>
              </a:ext>
            </a:extLst>
          </p:cNvPr>
          <p:cNvSpPr/>
          <p:nvPr/>
        </p:nvSpPr>
        <p:spPr>
          <a:xfrm flipH="1">
            <a:off x="5852160" y="4572000"/>
            <a:ext cx="1188720" cy="1005840"/>
          </a:xfrm>
          <a:prstGeom prst="line">
            <a:avLst/>
          </a:prstGeom>
          <a:noFill/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0D6AAE-690D-E299-ED5D-DE94FD271521}"/>
              </a:ext>
            </a:extLst>
          </p:cNvPr>
          <p:cNvSpPr/>
          <p:nvPr/>
        </p:nvSpPr>
        <p:spPr>
          <a:xfrm rot="19185819">
            <a:off x="5617729" y="5090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30DD8A8-FFDF-1721-761F-59DF2E54B9F0}"/>
              </a:ext>
            </a:extLst>
          </p:cNvPr>
          <p:cNvSpPr/>
          <p:nvPr/>
        </p:nvSpPr>
        <p:spPr>
          <a:xfrm>
            <a:off x="6035040" y="4023360"/>
            <a:ext cx="1005840" cy="548640"/>
          </a:xfrm>
          <a:prstGeom prst="line">
            <a:avLst/>
          </a:prstGeom>
          <a:noFill/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B21CE9-82EC-249E-7A18-31E4641C7DF7}"/>
              </a:ext>
            </a:extLst>
          </p:cNvPr>
          <p:cNvSpPr/>
          <p:nvPr/>
        </p:nvSpPr>
        <p:spPr>
          <a:xfrm rot="1564731">
            <a:off x="5948630" y="403117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C374C2-3934-336B-86EF-EDD99DA25447}"/>
              </a:ext>
            </a:extLst>
          </p:cNvPr>
          <p:cNvSpPr/>
          <p:nvPr/>
        </p:nvSpPr>
        <p:spPr>
          <a:xfrm flipH="1">
            <a:off x="7040880" y="2926080"/>
            <a:ext cx="2286000" cy="1645920"/>
          </a:xfrm>
          <a:prstGeom prst="line">
            <a:avLst/>
          </a:prstGeom>
          <a:noFill/>
          <a:ln w="457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730927-DC4F-4045-4901-B2E46FCD1C59}"/>
              </a:ext>
            </a:extLst>
          </p:cNvPr>
          <p:cNvSpPr/>
          <p:nvPr/>
        </p:nvSpPr>
        <p:spPr>
          <a:xfrm rot="19427296">
            <a:off x="8345225" y="296551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DN350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D1CF0FD-6CB4-AF35-AFE7-1089B0119ED7}"/>
              </a:ext>
            </a:extLst>
          </p:cNvPr>
          <p:cNvSpPr/>
          <p:nvPr/>
        </p:nvSpPr>
        <p:spPr>
          <a:xfrm flipH="1">
            <a:off x="9326880" y="1234440"/>
            <a:ext cx="914400" cy="1691640"/>
          </a:xfrm>
          <a:prstGeom prst="line">
            <a:avLst/>
          </a:prstGeom>
          <a:noFill/>
          <a:ln w="457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CF20346-7AC3-DC83-05D6-4B79A5F936AE}"/>
              </a:ext>
            </a:extLst>
          </p:cNvPr>
          <p:cNvSpPr/>
          <p:nvPr/>
        </p:nvSpPr>
        <p:spPr>
          <a:xfrm rot="1574159">
            <a:off x="9281160" y="1483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DN350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EF3745A-ABFF-360D-4523-8DA248381EB5}"/>
              </a:ext>
            </a:extLst>
          </p:cNvPr>
          <p:cNvSpPr/>
          <p:nvPr/>
        </p:nvSpPr>
        <p:spPr>
          <a:xfrm flipH="1">
            <a:off x="9326880" y="1920240"/>
            <a:ext cx="2194560" cy="1005840"/>
          </a:xfrm>
          <a:prstGeom prst="line">
            <a:avLst/>
          </a:prstGeom>
          <a:noFill/>
          <a:ln w="330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2239DB3-A61F-8924-83C1-5853BCFFCFC0}"/>
              </a:ext>
            </a:extLst>
          </p:cNvPr>
          <p:cNvSpPr/>
          <p:nvPr/>
        </p:nvSpPr>
        <p:spPr>
          <a:xfrm rot="20201777">
            <a:off x="10309059" y="202593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212ACB-9FDC-AC0E-3B43-666B93D6BD50}"/>
              </a:ext>
            </a:extLst>
          </p:cNvPr>
          <p:cNvSpPr/>
          <p:nvPr/>
        </p:nvSpPr>
        <p:spPr>
          <a:xfrm>
            <a:off x="9326880" y="2926080"/>
            <a:ext cx="95968" cy="548640"/>
          </a:xfrm>
          <a:prstGeom prst="line">
            <a:avLst/>
          </a:prstGeom>
          <a:noFill/>
          <a:ln w="2794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BE3ADF-7291-74FA-BF8D-A5DB38B99EFE}"/>
              </a:ext>
            </a:extLst>
          </p:cNvPr>
          <p:cNvSpPr/>
          <p:nvPr/>
        </p:nvSpPr>
        <p:spPr>
          <a:xfrm rot="21368881">
            <a:off x="9139151" y="31725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4778A2A-A0E5-9204-62FC-64C83CDCF79E}"/>
              </a:ext>
            </a:extLst>
          </p:cNvPr>
          <p:cNvSpPr/>
          <p:nvPr/>
        </p:nvSpPr>
        <p:spPr>
          <a:xfrm>
            <a:off x="9052560" y="1554480"/>
            <a:ext cx="274320" cy="1371600"/>
          </a:xfrm>
          <a:prstGeom prst="line">
            <a:avLst/>
          </a:prstGeom>
          <a:noFill/>
          <a:ln w="3302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04B5D9-372B-565B-DED0-FB14E72DF5B1}"/>
              </a:ext>
            </a:extLst>
          </p:cNvPr>
          <p:cNvSpPr/>
          <p:nvPr/>
        </p:nvSpPr>
        <p:spPr>
          <a:xfrm rot="21012163">
            <a:off x="8403656" y="1767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097E468-B803-E38A-5F15-2698A2298F32}"/>
              </a:ext>
            </a:extLst>
          </p:cNvPr>
          <p:cNvSpPr/>
          <p:nvPr/>
        </p:nvSpPr>
        <p:spPr>
          <a:xfrm>
            <a:off x="9326880" y="2926080"/>
            <a:ext cx="2011680" cy="91440"/>
          </a:xfrm>
          <a:prstGeom prst="line">
            <a:avLst/>
          </a:prstGeom>
          <a:noFill/>
          <a:ln w="2794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DDBD744-83E1-04B6-693A-CCFE043ACDA0}"/>
              </a:ext>
            </a:extLst>
          </p:cNvPr>
          <p:cNvSpPr/>
          <p:nvPr/>
        </p:nvSpPr>
        <p:spPr>
          <a:xfrm rot="269111">
            <a:off x="10343252" y="2772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A2EB497-E06F-DE80-7A9A-C77F9C34AE84}"/>
              </a:ext>
            </a:extLst>
          </p:cNvPr>
          <p:cNvSpPr/>
          <p:nvPr/>
        </p:nvSpPr>
        <p:spPr>
          <a:xfrm flipH="1">
            <a:off x="9326880" y="1188720"/>
            <a:ext cx="2560320" cy="1737360"/>
          </a:xfrm>
          <a:prstGeom prst="line">
            <a:avLst/>
          </a:prstGeom>
          <a:noFill/>
          <a:ln w="2794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2A562F5-2533-BE52-2233-4D9195FB1A8B}"/>
              </a:ext>
            </a:extLst>
          </p:cNvPr>
          <p:cNvSpPr/>
          <p:nvPr/>
        </p:nvSpPr>
        <p:spPr>
          <a:xfrm rot="19558789">
            <a:off x="10890701" y="12600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7B0A5AD-8CA1-A311-CB34-DFF8021D3921}"/>
              </a:ext>
            </a:extLst>
          </p:cNvPr>
          <p:cNvSpPr/>
          <p:nvPr/>
        </p:nvSpPr>
        <p:spPr>
          <a:xfrm flipH="1">
            <a:off x="6766560" y="4572000"/>
            <a:ext cx="274320" cy="1463040"/>
          </a:xfrm>
          <a:prstGeom prst="line">
            <a:avLst/>
          </a:prstGeom>
          <a:noFill/>
          <a:ln w="5334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8E1A2C9-0CFE-858A-18A9-2E183E6EBC5E}"/>
              </a:ext>
            </a:extLst>
          </p:cNvPr>
          <p:cNvSpPr/>
          <p:nvPr/>
        </p:nvSpPr>
        <p:spPr>
          <a:xfrm rot="16837179">
            <a:off x="6308253" y="517684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DN400</a:t>
            </a:r>
            <a:endParaRPr lang="en-US" sz="8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4D4EB3E-4082-DC41-903F-B8B4F496B133}"/>
              </a:ext>
            </a:extLst>
          </p:cNvPr>
          <p:cNvSpPr/>
          <p:nvPr/>
        </p:nvSpPr>
        <p:spPr>
          <a:xfrm>
            <a:off x="5394960" y="5943600"/>
            <a:ext cx="1371600" cy="91440"/>
          </a:xfrm>
          <a:prstGeom prst="line">
            <a:avLst/>
          </a:prstGeom>
          <a:noFill/>
          <a:ln w="190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0865AF2-3D73-09C5-FE97-16E9B724CB7B}"/>
              </a:ext>
            </a:extLst>
          </p:cNvPr>
          <p:cNvSpPr/>
          <p:nvPr/>
        </p:nvSpPr>
        <p:spPr>
          <a:xfrm rot="228844">
            <a:off x="5653472" y="57568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988B2F7-B219-B972-131D-65143D6AD2C0}"/>
              </a:ext>
            </a:extLst>
          </p:cNvPr>
          <p:cNvSpPr/>
          <p:nvPr/>
        </p:nvSpPr>
        <p:spPr>
          <a:xfrm flipH="1">
            <a:off x="6766560" y="5943600"/>
            <a:ext cx="1280160" cy="91440"/>
          </a:xfrm>
          <a:prstGeom prst="line">
            <a:avLst/>
          </a:prstGeom>
          <a:noFill/>
          <a:ln w="2794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368717B-5823-655C-FB87-66020E70D294}"/>
              </a:ext>
            </a:extLst>
          </p:cNvPr>
          <p:cNvSpPr/>
          <p:nvPr/>
        </p:nvSpPr>
        <p:spPr>
          <a:xfrm rot="-245137">
            <a:off x="6903720" y="577499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CB42CD1-C6B1-9BD5-BD39-AD2C5D1A6967}"/>
              </a:ext>
            </a:extLst>
          </p:cNvPr>
          <p:cNvSpPr/>
          <p:nvPr/>
        </p:nvSpPr>
        <p:spPr>
          <a:xfrm flipH="1">
            <a:off x="6583680" y="6035040"/>
            <a:ext cx="182880" cy="2194560"/>
          </a:xfrm>
          <a:prstGeom prst="line">
            <a:avLst/>
          </a:prstGeom>
          <a:noFill/>
          <a:ln w="4572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4B8C41E-A007-88EC-BB81-D7DB229D95DB}"/>
              </a:ext>
            </a:extLst>
          </p:cNvPr>
          <p:cNvSpPr/>
          <p:nvPr/>
        </p:nvSpPr>
        <p:spPr>
          <a:xfrm rot="16485819">
            <a:off x="6085190" y="697788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DN350</a:t>
            </a:r>
            <a:endParaRPr lang="en-US" sz="8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6401DFE-5AB1-9F45-9F7A-9BB25A69F29A}"/>
              </a:ext>
            </a:extLst>
          </p:cNvPr>
          <p:cNvSpPr/>
          <p:nvPr/>
        </p:nvSpPr>
        <p:spPr>
          <a:xfrm flipH="1">
            <a:off x="6583680" y="8046720"/>
            <a:ext cx="1554480" cy="182880"/>
          </a:xfrm>
          <a:prstGeom prst="line">
            <a:avLst/>
          </a:prstGeom>
          <a:noFill/>
          <a:ln w="228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A8786AC-1CC4-4B6F-3F2E-C6017AB15E48}"/>
              </a:ext>
            </a:extLst>
          </p:cNvPr>
          <p:cNvSpPr/>
          <p:nvPr/>
        </p:nvSpPr>
        <p:spPr>
          <a:xfrm rot="-402590">
            <a:off x="6936568" y="79243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11E93B4-1AC4-6008-C28F-4027732BAF8A}"/>
              </a:ext>
            </a:extLst>
          </p:cNvPr>
          <p:cNvSpPr/>
          <p:nvPr/>
        </p:nvSpPr>
        <p:spPr>
          <a:xfrm flipH="1">
            <a:off x="6583680" y="7223760"/>
            <a:ext cx="1645920" cy="1005840"/>
          </a:xfrm>
          <a:prstGeom prst="line">
            <a:avLst/>
          </a:prstGeom>
          <a:noFill/>
          <a:ln w="190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CF8FC01-C846-39C5-688A-6952E1838722}"/>
              </a:ext>
            </a:extLst>
          </p:cNvPr>
          <p:cNvSpPr/>
          <p:nvPr/>
        </p:nvSpPr>
        <p:spPr>
          <a:xfrm rot="-1885774">
            <a:off x="6885432" y="74658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826133C-2D00-28D5-6707-BC87BA08AF34}"/>
              </a:ext>
            </a:extLst>
          </p:cNvPr>
          <p:cNvSpPr/>
          <p:nvPr/>
        </p:nvSpPr>
        <p:spPr>
          <a:xfrm>
            <a:off x="4937760" y="7955280"/>
            <a:ext cx="1645920" cy="274320"/>
          </a:xfrm>
          <a:prstGeom prst="line">
            <a:avLst/>
          </a:prstGeom>
          <a:noFill/>
          <a:ln w="228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D2836FB-1ABB-58A8-FB27-0B738C742B23}"/>
              </a:ext>
            </a:extLst>
          </p:cNvPr>
          <p:cNvSpPr/>
          <p:nvPr/>
        </p:nvSpPr>
        <p:spPr>
          <a:xfrm rot="567739">
            <a:off x="5228469" y="786892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40AC1F5-6ECC-C408-E6C5-D0FA78490796}"/>
              </a:ext>
            </a:extLst>
          </p:cNvPr>
          <p:cNvSpPr/>
          <p:nvPr/>
        </p:nvSpPr>
        <p:spPr>
          <a:xfrm flipH="1">
            <a:off x="5669280" y="8229600"/>
            <a:ext cx="914400" cy="822960"/>
          </a:xfrm>
          <a:prstGeom prst="line">
            <a:avLst/>
          </a:prstGeom>
          <a:noFill/>
          <a:ln w="4064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EA53415-445A-2783-8B99-6B8140413DC5}"/>
              </a:ext>
            </a:extLst>
          </p:cNvPr>
          <p:cNvSpPr/>
          <p:nvPr/>
        </p:nvSpPr>
        <p:spPr>
          <a:xfrm rot="19080767">
            <a:off x="5480601" y="850391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DN300</a:t>
            </a:r>
            <a:endParaRPr lang="en-US" sz="8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880C8EE-9EF7-4F22-9FA8-FECA68839AB0}"/>
              </a:ext>
            </a:extLst>
          </p:cNvPr>
          <p:cNvSpPr/>
          <p:nvPr/>
        </p:nvSpPr>
        <p:spPr>
          <a:xfrm>
            <a:off x="6583680" y="8229600"/>
            <a:ext cx="640080" cy="868680"/>
          </a:xfrm>
          <a:prstGeom prst="line">
            <a:avLst/>
          </a:prstGeom>
          <a:noFill/>
          <a:ln w="228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191BF3B-270B-A458-051A-5FE4E9A86CCA}"/>
              </a:ext>
            </a:extLst>
          </p:cNvPr>
          <p:cNvSpPr/>
          <p:nvPr/>
        </p:nvSpPr>
        <p:spPr>
          <a:xfrm rot="3216939">
            <a:off x="6560648" y="859392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7800A6D-9A30-5E7E-B1AD-39A3816EFDF6}"/>
              </a:ext>
            </a:extLst>
          </p:cNvPr>
          <p:cNvSpPr/>
          <p:nvPr/>
        </p:nvSpPr>
        <p:spPr>
          <a:xfrm flipH="1">
            <a:off x="4937760" y="4572000"/>
            <a:ext cx="2103120" cy="182880"/>
          </a:xfrm>
          <a:prstGeom prst="line">
            <a:avLst/>
          </a:prstGeom>
          <a:noFill/>
          <a:ln w="533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B2F9E5C-9749-AEC7-1DDA-FF8B701B3539}"/>
              </a:ext>
            </a:extLst>
          </p:cNvPr>
          <p:cNvSpPr/>
          <p:nvPr/>
        </p:nvSpPr>
        <p:spPr>
          <a:xfrm rot="21301816">
            <a:off x="4936151" y="44782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DN400</a:t>
            </a:r>
            <a:endParaRPr lang="en-US" sz="8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D6D6013-2567-7EE7-6ECA-40C979D88360}"/>
              </a:ext>
            </a:extLst>
          </p:cNvPr>
          <p:cNvSpPr/>
          <p:nvPr/>
        </p:nvSpPr>
        <p:spPr>
          <a:xfrm>
            <a:off x="4206240" y="3108960"/>
            <a:ext cx="731520" cy="1645920"/>
          </a:xfrm>
          <a:prstGeom prst="line">
            <a:avLst/>
          </a:prstGeom>
          <a:noFill/>
          <a:ln w="190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EEB3292-7072-EDBB-E019-76AFBF2DB065}"/>
              </a:ext>
            </a:extLst>
          </p:cNvPr>
          <p:cNvSpPr/>
          <p:nvPr/>
        </p:nvSpPr>
        <p:spPr>
          <a:xfrm rot="3901746">
            <a:off x="3993957" y="334997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38BD946-931B-8D66-91A0-815E90BEDDD0}"/>
              </a:ext>
            </a:extLst>
          </p:cNvPr>
          <p:cNvSpPr/>
          <p:nvPr/>
        </p:nvSpPr>
        <p:spPr>
          <a:xfrm flipH="1">
            <a:off x="4114800" y="4754880"/>
            <a:ext cx="822960" cy="731520"/>
          </a:xfrm>
          <a:prstGeom prst="line">
            <a:avLst/>
          </a:prstGeom>
          <a:noFill/>
          <a:ln w="2286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E7D9A73-32EE-B8DA-CB9C-DDDFFD553515}"/>
              </a:ext>
            </a:extLst>
          </p:cNvPr>
          <p:cNvSpPr/>
          <p:nvPr/>
        </p:nvSpPr>
        <p:spPr>
          <a:xfrm rot="19101988">
            <a:off x="3907955" y="496291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BE5F5761-D18B-CD3E-53A9-05FF3574583C}"/>
              </a:ext>
            </a:extLst>
          </p:cNvPr>
          <p:cNvSpPr/>
          <p:nvPr/>
        </p:nvSpPr>
        <p:spPr>
          <a:xfrm flipH="1">
            <a:off x="2468880" y="4754880"/>
            <a:ext cx="2468880" cy="91440"/>
          </a:xfrm>
          <a:prstGeom prst="line">
            <a:avLst/>
          </a:prstGeom>
          <a:noFill/>
          <a:ln w="406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004C201-9500-C015-63B6-474896282549}"/>
              </a:ext>
            </a:extLst>
          </p:cNvPr>
          <p:cNvSpPr/>
          <p:nvPr/>
        </p:nvSpPr>
        <p:spPr>
          <a:xfrm rot="21472734">
            <a:off x="2639135" y="459051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DN300</a:t>
            </a:r>
            <a:endParaRPr lang="en-US" sz="8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14626CCB-2CEC-6EA5-E03E-FA1F184FFCC6}"/>
              </a:ext>
            </a:extLst>
          </p:cNvPr>
          <p:cNvSpPr/>
          <p:nvPr/>
        </p:nvSpPr>
        <p:spPr>
          <a:xfrm flipH="1">
            <a:off x="2468880" y="2743200"/>
            <a:ext cx="548640" cy="2103120"/>
          </a:xfrm>
          <a:prstGeom prst="line">
            <a:avLst/>
          </a:prstGeom>
          <a:noFill/>
          <a:ln w="3302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44D0964-FE3F-89E9-C3D8-D2DFF21E7EA8}"/>
              </a:ext>
            </a:extLst>
          </p:cNvPr>
          <p:cNvSpPr/>
          <p:nvPr/>
        </p:nvSpPr>
        <p:spPr>
          <a:xfrm rot="938989">
            <a:off x="2640351" y="296643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DN250</a:t>
            </a:r>
            <a:endParaRPr lang="en-US" sz="8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5446172-7F12-C937-74E9-38362449A866}"/>
              </a:ext>
            </a:extLst>
          </p:cNvPr>
          <p:cNvSpPr/>
          <p:nvPr/>
        </p:nvSpPr>
        <p:spPr>
          <a:xfrm>
            <a:off x="1828800" y="3108960"/>
            <a:ext cx="640080" cy="1737360"/>
          </a:xfrm>
          <a:prstGeom prst="line">
            <a:avLst/>
          </a:prstGeom>
          <a:noFill/>
          <a:ln w="190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55B5E10-57A8-76E8-25C8-70C24CC9A2FA}"/>
              </a:ext>
            </a:extLst>
          </p:cNvPr>
          <p:cNvSpPr/>
          <p:nvPr/>
        </p:nvSpPr>
        <p:spPr>
          <a:xfrm rot="20250490">
            <a:off x="1633141" y="320590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2105187-C504-AD80-58C6-C35A1E085371}"/>
              </a:ext>
            </a:extLst>
          </p:cNvPr>
          <p:cNvSpPr/>
          <p:nvPr/>
        </p:nvSpPr>
        <p:spPr>
          <a:xfrm>
            <a:off x="1188720" y="4114800"/>
            <a:ext cx="1280160" cy="731520"/>
          </a:xfrm>
          <a:prstGeom prst="line">
            <a:avLst/>
          </a:prstGeom>
          <a:noFill/>
          <a:ln w="190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FA5A445-9FF9-9245-C124-D18C77A89E54}"/>
              </a:ext>
            </a:extLst>
          </p:cNvPr>
          <p:cNvSpPr/>
          <p:nvPr/>
        </p:nvSpPr>
        <p:spPr>
          <a:xfrm rot="1871671">
            <a:off x="1125643" y="4124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DN125</a:t>
            </a:r>
            <a:endParaRPr lang="en-US" sz="8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DDF4E22-9BCF-0181-5EBF-BE5F41E66FB7}"/>
              </a:ext>
            </a:extLst>
          </p:cNvPr>
          <p:cNvSpPr/>
          <p:nvPr/>
        </p:nvSpPr>
        <p:spPr>
          <a:xfrm flipH="1">
            <a:off x="1097280" y="4846320"/>
            <a:ext cx="1371600" cy="365760"/>
          </a:xfrm>
          <a:prstGeom prst="line">
            <a:avLst/>
          </a:prstGeom>
          <a:noFill/>
          <a:ln w="279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7C9CEA6-1EFE-43DD-F7F5-F8454820DC5F}"/>
              </a:ext>
            </a:extLst>
          </p:cNvPr>
          <p:cNvSpPr/>
          <p:nvPr/>
        </p:nvSpPr>
        <p:spPr>
          <a:xfrm rot="20802597">
            <a:off x="1051560" y="487258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9B123DE-15C5-BC3D-9CC1-99BBE7B7D13D}"/>
              </a:ext>
            </a:extLst>
          </p:cNvPr>
          <p:cNvSpPr/>
          <p:nvPr/>
        </p:nvSpPr>
        <p:spPr>
          <a:xfrm flipH="1">
            <a:off x="2103120" y="4846320"/>
            <a:ext cx="365760" cy="1463040"/>
          </a:xfrm>
          <a:prstGeom prst="line">
            <a:avLst/>
          </a:prstGeom>
          <a:noFill/>
          <a:ln w="2794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C647D17-527D-9668-D8B2-49CF3E398091}"/>
              </a:ext>
            </a:extLst>
          </p:cNvPr>
          <p:cNvSpPr/>
          <p:nvPr/>
        </p:nvSpPr>
        <p:spPr>
          <a:xfrm rot="785668">
            <a:off x="1887101" y="5887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DN200</a:t>
            </a:r>
            <a:endParaRPr lang="en-US" sz="8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8C0100CF-42A5-BA14-DFC4-A1743A400C02}"/>
              </a:ext>
            </a:extLst>
          </p:cNvPr>
          <p:cNvSpPr/>
          <p:nvPr/>
        </p:nvSpPr>
        <p:spPr>
          <a:xfrm>
            <a:off x="2468880" y="4846320"/>
            <a:ext cx="822960" cy="1645920"/>
          </a:xfrm>
          <a:prstGeom prst="line">
            <a:avLst/>
          </a:prstGeom>
          <a:noFill/>
          <a:ln w="2286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BAC707C-A19F-94C8-4F87-27406EAB76D4}"/>
              </a:ext>
            </a:extLst>
          </p:cNvPr>
          <p:cNvSpPr/>
          <p:nvPr/>
        </p:nvSpPr>
        <p:spPr>
          <a:xfrm rot="19807295">
            <a:off x="2801440" y="591181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DN150</a:t>
            </a:r>
            <a:endParaRPr lang="en-US" sz="8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0AEDF702-D425-DC0A-AF35-C4AAC0A08A46}"/>
              </a:ext>
            </a:extLst>
          </p:cNvPr>
          <p:cNvSpPr/>
          <p:nvPr/>
        </p:nvSpPr>
        <p:spPr>
          <a:xfrm>
            <a:off x="6583680" y="4114800"/>
            <a:ext cx="91440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6F37869-A7DD-CC9B-44C1-028AA33AF366}"/>
              </a:ext>
            </a:extLst>
          </p:cNvPr>
          <p:cNvSpPr/>
          <p:nvPr/>
        </p:nvSpPr>
        <p:spPr>
          <a:xfrm>
            <a:off x="6693408" y="4224528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36D96A4-1B10-B459-0076-57E727241538}"/>
              </a:ext>
            </a:extLst>
          </p:cNvPr>
          <p:cNvSpPr/>
          <p:nvPr/>
        </p:nvSpPr>
        <p:spPr>
          <a:xfrm>
            <a:off x="6693408" y="4224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J4</a:t>
            </a:r>
            <a:endParaRPr lang="en-US" sz="16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DCAF4A79-9CC6-277A-670D-A300B586D8F7}"/>
              </a:ext>
            </a:extLst>
          </p:cNvPr>
          <p:cNvSpPr/>
          <p:nvPr/>
        </p:nvSpPr>
        <p:spPr>
          <a:xfrm>
            <a:off x="5705856" y="28712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1BED4D39-5AD9-5F80-D00C-906B7D307FA8}"/>
              </a:ext>
            </a:extLst>
          </p:cNvPr>
          <p:cNvSpPr/>
          <p:nvPr/>
        </p:nvSpPr>
        <p:spPr>
          <a:xfrm>
            <a:off x="5705856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2D4224B3-CE52-7E48-8DD7-345F08362091}"/>
              </a:ext>
            </a:extLst>
          </p:cNvPr>
          <p:cNvSpPr/>
          <p:nvPr/>
        </p:nvSpPr>
        <p:spPr>
          <a:xfrm>
            <a:off x="7077456" y="29626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21421D9-B8D2-D173-B706-5218954AEBF4}"/>
              </a:ext>
            </a:extLst>
          </p:cNvPr>
          <p:cNvSpPr/>
          <p:nvPr/>
        </p:nvSpPr>
        <p:spPr>
          <a:xfrm>
            <a:off x="7077456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2B1FC3A7-070E-7083-8ABF-708E60809433}"/>
              </a:ext>
            </a:extLst>
          </p:cNvPr>
          <p:cNvSpPr/>
          <p:nvPr/>
        </p:nvSpPr>
        <p:spPr>
          <a:xfrm>
            <a:off x="8174736" y="38770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42FA3460-5557-6CFD-02FF-213334056BBE}"/>
              </a:ext>
            </a:extLst>
          </p:cNvPr>
          <p:cNvSpPr/>
          <p:nvPr/>
        </p:nvSpPr>
        <p:spPr>
          <a:xfrm>
            <a:off x="8174736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2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3D875FA-A705-2EA5-5F06-50ADEA25016B}"/>
              </a:ext>
            </a:extLst>
          </p:cNvPr>
          <p:cNvSpPr/>
          <p:nvPr/>
        </p:nvSpPr>
        <p:spPr>
          <a:xfrm>
            <a:off x="5614416" y="534009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80BB0871-B022-E6D0-04B1-06B387353C9F}"/>
              </a:ext>
            </a:extLst>
          </p:cNvPr>
          <p:cNvSpPr/>
          <p:nvPr/>
        </p:nvSpPr>
        <p:spPr>
          <a:xfrm>
            <a:off x="5614416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20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9B288BF6-4CA9-F2BE-69B9-60DF8A8E9B76}"/>
              </a:ext>
            </a:extLst>
          </p:cNvPr>
          <p:cNvSpPr/>
          <p:nvPr/>
        </p:nvSpPr>
        <p:spPr>
          <a:xfrm>
            <a:off x="5797296" y="37856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011BABE1-5877-5870-7728-5A392D7EF41E}"/>
              </a:ext>
            </a:extLst>
          </p:cNvPr>
          <p:cNvSpPr/>
          <p:nvPr/>
        </p:nvSpPr>
        <p:spPr>
          <a:xfrm>
            <a:off x="5797296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12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38667106-AB9A-0CE6-1F78-C2959F807429}"/>
              </a:ext>
            </a:extLst>
          </p:cNvPr>
          <p:cNvSpPr/>
          <p:nvPr/>
        </p:nvSpPr>
        <p:spPr>
          <a:xfrm>
            <a:off x="9052560" y="26517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2A168B68-85D6-3AEF-29E0-1D764F07386B}"/>
              </a:ext>
            </a:extLst>
          </p:cNvPr>
          <p:cNvSpPr/>
          <p:nvPr/>
        </p:nvSpPr>
        <p:spPr>
          <a:xfrm>
            <a:off x="90525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J3</a:t>
            </a:r>
            <a:endParaRPr lang="en-US" sz="12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39E3FF49-52FA-09CF-FF8D-01AF3AF8D166}"/>
              </a:ext>
            </a:extLst>
          </p:cNvPr>
          <p:cNvSpPr/>
          <p:nvPr/>
        </p:nvSpPr>
        <p:spPr>
          <a:xfrm>
            <a:off x="9198864" y="346379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FCAFFA68-A745-C1B5-078D-6CC0C86D9976}"/>
              </a:ext>
            </a:extLst>
          </p:cNvPr>
          <p:cNvSpPr/>
          <p:nvPr/>
        </p:nvSpPr>
        <p:spPr>
          <a:xfrm>
            <a:off x="9198864" y="34637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120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7DEADA8E-8B0D-13FB-D642-FAA17CC07D93}"/>
              </a:ext>
            </a:extLst>
          </p:cNvPr>
          <p:cNvSpPr/>
          <p:nvPr/>
        </p:nvSpPr>
        <p:spPr>
          <a:xfrm>
            <a:off x="8814816" y="13167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BCAFC4A1-C51C-5B36-9AB0-E829BE30C50A}"/>
              </a:ext>
            </a:extLst>
          </p:cNvPr>
          <p:cNvSpPr/>
          <p:nvPr/>
        </p:nvSpPr>
        <p:spPr>
          <a:xfrm>
            <a:off x="881481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</a:t>
            </a:r>
            <a:endParaRPr lang="en-US" sz="120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58D783F9-7E69-CF1F-1493-0AA763D40632}"/>
              </a:ext>
            </a:extLst>
          </p:cNvPr>
          <p:cNvSpPr/>
          <p:nvPr/>
        </p:nvSpPr>
        <p:spPr>
          <a:xfrm>
            <a:off x="11100816" y="277977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34041126-E958-3DE6-00C8-CF89EE6AB854}"/>
              </a:ext>
            </a:extLst>
          </p:cNvPr>
          <p:cNvSpPr/>
          <p:nvPr/>
        </p:nvSpPr>
        <p:spPr>
          <a:xfrm>
            <a:off x="11100816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C8</a:t>
            </a:r>
            <a:endParaRPr lang="en-US" sz="1200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DA082AA3-41E9-4410-0465-B7C1131D9433}"/>
              </a:ext>
            </a:extLst>
          </p:cNvPr>
          <p:cNvSpPr/>
          <p:nvPr/>
        </p:nvSpPr>
        <p:spPr>
          <a:xfrm>
            <a:off x="11649456" y="95097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E4B6BDD0-FF5E-1020-0E53-E9809DA93764}"/>
              </a:ext>
            </a:extLst>
          </p:cNvPr>
          <p:cNvSpPr/>
          <p:nvPr/>
        </p:nvSpPr>
        <p:spPr>
          <a:xfrm>
            <a:off x="11649456" y="950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C9</a:t>
            </a:r>
            <a:endParaRPr lang="en-US" sz="120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2084C805-3D0F-0CEC-C0A8-2F59185A1372}"/>
              </a:ext>
            </a:extLst>
          </p:cNvPr>
          <p:cNvSpPr/>
          <p:nvPr/>
        </p:nvSpPr>
        <p:spPr>
          <a:xfrm>
            <a:off x="6492240" y="57607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8D19AB9B-DD32-6CEE-EF92-723CDE660F50}"/>
              </a:ext>
            </a:extLst>
          </p:cNvPr>
          <p:cNvSpPr/>
          <p:nvPr/>
        </p:nvSpPr>
        <p:spPr>
          <a:xfrm>
            <a:off x="6492240" y="5760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J7</a:t>
            </a:r>
            <a:endParaRPr lang="en-US" sz="120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7BFCFAEB-482F-823A-805C-6E3438FE6B0B}"/>
              </a:ext>
            </a:extLst>
          </p:cNvPr>
          <p:cNvSpPr/>
          <p:nvPr/>
        </p:nvSpPr>
        <p:spPr>
          <a:xfrm>
            <a:off x="6236208" y="7882128"/>
            <a:ext cx="694944" cy="694944"/>
          </a:xfrm>
          <a:prstGeom prst="ellipse">
            <a:avLst/>
          </a:prstGeom>
          <a:solidFill>
            <a:srgbClr val="FFFFFF"/>
          </a:solidFill>
          <a:ln w="3556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4F8CCD67-64E3-4DEB-4E10-219697CE1D70}"/>
              </a:ext>
            </a:extLst>
          </p:cNvPr>
          <p:cNvSpPr/>
          <p:nvPr/>
        </p:nvSpPr>
        <p:spPr>
          <a:xfrm>
            <a:off x="6236208" y="7882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40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EC9823AF-7C38-2858-31DD-B66E6E1670E5}"/>
              </a:ext>
            </a:extLst>
          </p:cNvPr>
          <p:cNvSpPr/>
          <p:nvPr/>
        </p:nvSpPr>
        <p:spPr>
          <a:xfrm>
            <a:off x="5157216" y="57058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BDED726B-6686-A9B7-2CAA-2CF0FB7DA6D6}"/>
              </a:ext>
            </a:extLst>
          </p:cNvPr>
          <p:cNvSpPr/>
          <p:nvPr/>
        </p:nvSpPr>
        <p:spPr>
          <a:xfrm>
            <a:off x="5157216" y="5705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</a:t>
            </a:r>
            <a:endParaRPr lang="en-US" sz="120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D0F87420-A645-7670-2A7F-4693F99EF38D}"/>
              </a:ext>
            </a:extLst>
          </p:cNvPr>
          <p:cNvSpPr/>
          <p:nvPr/>
        </p:nvSpPr>
        <p:spPr>
          <a:xfrm>
            <a:off x="7808976" y="57058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413DE997-4867-FA4F-5E39-BB1911693B17}"/>
              </a:ext>
            </a:extLst>
          </p:cNvPr>
          <p:cNvSpPr/>
          <p:nvPr/>
        </p:nvSpPr>
        <p:spPr>
          <a:xfrm>
            <a:off x="7808976" y="5705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C11</a:t>
            </a:r>
            <a:endParaRPr lang="en-US" sz="1200" dirty="0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1B8B8462-63F2-3AF2-B7BF-FA7F0786F233}"/>
              </a:ext>
            </a:extLst>
          </p:cNvPr>
          <p:cNvSpPr/>
          <p:nvPr/>
        </p:nvSpPr>
        <p:spPr>
          <a:xfrm>
            <a:off x="7900416" y="780897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23D18727-05DB-747B-CCC6-CCC1DA71984F}"/>
              </a:ext>
            </a:extLst>
          </p:cNvPr>
          <p:cNvSpPr/>
          <p:nvPr/>
        </p:nvSpPr>
        <p:spPr>
          <a:xfrm>
            <a:off x="7900416" y="7808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C12</a:t>
            </a:r>
            <a:endParaRPr lang="en-US" sz="1200" dirty="0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07DDB7FA-24F0-8454-AD72-B7CA0AF23DB3}"/>
              </a:ext>
            </a:extLst>
          </p:cNvPr>
          <p:cNvSpPr/>
          <p:nvPr/>
        </p:nvSpPr>
        <p:spPr>
          <a:xfrm>
            <a:off x="7991856" y="69860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B6165053-86EA-78BA-E9DE-75B32720CFE3}"/>
              </a:ext>
            </a:extLst>
          </p:cNvPr>
          <p:cNvSpPr/>
          <p:nvPr/>
        </p:nvSpPr>
        <p:spPr>
          <a:xfrm>
            <a:off x="7991856" y="6986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C13</a:t>
            </a:r>
            <a:endParaRPr lang="en-US" sz="1200" dirty="0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978342A4-7256-D572-B8B5-F107731D7F25}"/>
              </a:ext>
            </a:extLst>
          </p:cNvPr>
          <p:cNvSpPr/>
          <p:nvPr/>
        </p:nvSpPr>
        <p:spPr>
          <a:xfrm>
            <a:off x="4700016" y="77175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BBF7C16D-05DC-948F-3DE8-8103A0AF0502}"/>
              </a:ext>
            </a:extLst>
          </p:cNvPr>
          <p:cNvSpPr/>
          <p:nvPr/>
        </p:nvSpPr>
        <p:spPr>
          <a:xfrm>
            <a:off x="4700016" y="7717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C14</a:t>
            </a:r>
            <a:endParaRPr lang="en-US" sz="1200" dirty="0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8DF913B2-907B-838E-7CFB-C9BC074BF152}"/>
              </a:ext>
            </a:extLst>
          </p:cNvPr>
          <p:cNvSpPr/>
          <p:nvPr/>
        </p:nvSpPr>
        <p:spPr>
          <a:xfrm>
            <a:off x="5431536" y="88148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1C9BABF0-CA58-138D-A214-FDB053D493C0}"/>
              </a:ext>
            </a:extLst>
          </p:cNvPr>
          <p:cNvSpPr/>
          <p:nvPr/>
        </p:nvSpPr>
        <p:spPr>
          <a:xfrm>
            <a:off x="5431536" y="8814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C15</a:t>
            </a:r>
            <a:endParaRPr lang="en-US" sz="1200" dirty="0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099143DE-28E7-7464-BB97-C838746ED02A}"/>
              </a:ext>
            </a:extLst>
          </p:cNvPr>
          <p:cNvSpPr/>
          <p:nvPr/>
        </p:nvSpPr>
        <p:spPr>
          <a:xfrm>
            <a:off x="7030965" y="8979580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C538D4EE-D629-75AD-018B-552B630D8791}"/>
              </a:ext>
            </a:extLst>
          </p:cNvPr>
          <p:cNvSpPr/>
          <p:nvPr/>
        </p:nvSpPr>
        <p:spPr>
          <a:xfrm>
            <a:off x="7030965" y="89795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</a:t>
            </a:r>
            <a:endParaRPr lang="en-US" sz="1200" dirty="0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E71E4C24-A49E-EFC0-9BFA-D820270A164E}"/>
              </a:ext>
            </a:extLst>
          </p:cNvPr>
          <p:cNvSpPr/>
          <p:nvPr/>
        </p:nvSpPr>
        <p:spPr>
          <a:xfrm>
            <a:off x="4663440" y="4480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96732D69-D832-3443-8820-F507CC84E5C4}"/>
              </a:ext>
            </a:extLst>
          </p:cNvPr>
          <p:cNvSpPr/>
          <p:nvPr/>
        </p:nvSpPr>
        <p:spPr>
          <a:xfrm>
            <a:off x="46634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</a:t>
            </a:r>
            <a:endParaRPr lang="en-US" sz="1200" dirty="0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5FCE51B9-0F4B-FD15-A5A6-BDAAA8D61C7F}"/>
              </a:ext>
            </a:extLst>
          </p:cNvPr>
          <p:cNvSpPr/>
          <p:nvPr/>
        </p:nvSpPr>
        <p:spPr>
          <a:xfrm>
            <a:off x="2121408" y="4498848"/>
            <a:ext cx="694944" cy="694944"/>
          </a:xfrm>
          <a:prstGeom prst="ellipse">
            <a:avLst/>
          </a:prstGeom>
          <a:solidFill>
            <a:srgbClr val="FFFFFF"/>
          </a:solidFill>
          <a:ln w="3556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D4D6EA60-EA05-54B1-C477-2EBF618B2E35}"/>
              </a:ext>
            </a:extLst>
          </p:cNvPr>
          <p:cNvSpPr/>
          <p:nvPr/>
        </p:nvSpPr>
        <p:spPr>
          <a:xfrm>
            <a:off x="2121408" y="4498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400" dirty="0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28A58019-2AC5-0BE7-32EB-373F26872F84}"/>
              </a:ext>
            </a:extLst>
          </p:cNvPr>
          <p:cNvSpPr/>
          <p:nvPr/>
        </p:nvSpPr>
        <p:spPr>
          <a:xfrm>
            <a:off x="3968496" y="28712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AD411DB9-D7FF-7D0C-5CD4-A58674C825D2}"/>
              </a:ext>
            </a:extLst>
          </p:cNvPr>
          <p:cNvSpPr/>
          <p:nvPr/>
        </p:nvSpPr>
        <p:spPr>
          <a:xfrm>
            <a:off x="3968496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C17</a:t>
            </a:r>
            <a:endParaRPr lang="en-US" sz="1200" dirty="0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A3695C63-01DD-88E5-498F-073C6F6C0EAE}"/>
              </a:ext>
            </a:extLst>
          </p:cNvPr>
          <p:cNvSpPr/>
          <p:nvPr/>
        </p:nvSpPr>
        <p:spPr>
          <a:xfrm>
            <a:off x="2779776" y="25054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33102E33-D452-12F0-F768-5996A17CF7CC}"/>
              </a:ext>
            </a:extLst>
          </p:cNvPr>
          <p:cNvSpPr/>
          <p:nvPr/>
        </p:nvSpPr>
        <p:spPr>
          <a:xfrm>
            <a:off x="277977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C18</a:t>
            </a:r>
            <a:endParaRPr lang="en-US" sz="1200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5D136732-DA86-3876-4FAC-5C9AAD4A0B01}"/>
              </a:ext>
            </a:extLst>
          </p:cNvPr>
          <p:cNvSpPr/>
          <p:nvPr/>
        </p:nvSpPr>
        <p:spPr>
          <a:xfrm>
            <a:off x="1591056" y="28712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F69C9376-F0AD-4681-BD36-AC46FD093156}"/>
              </a:ext>
            </a:extLst>
          </p:cNvPr>
          <p:cNvSpPr/>
          <p:nvPr/>
        </p:nvSpPr>
        <p:spPr>
          <a:xfrm>
            <a:off x="1591056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C19</a:t>
            </a:r>
            <a:endParaRPr lang="en-US" sz="1200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07FEFFB2-7CD7-C1BE-446C-6AD5019F2548}"/>
              </a:ext>
            </a:extLst>
          </p:cNvPr>
          <p:cNvSpPr/>
          <p:nvPr/>
        </p:nvSpPr>
        <p:spPr>
          <a:xfrm>
            <a:off x="950976" y="38770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4E12C2BB-B127-89C8-3EE5-41192E185661}"/>
              </a:ext>
            </a:extLst>
          </p:cNvPr>
          <p:cNvSpPr/>
          <p:nvPr/>
        </p:nvSpPr>
        <p:spPr>
          <a:xfrm>
            <a:off x="950976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C20</a:t>
            </a:r>
            <a:endParaRPr lang="en-US" sz="120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411105C0-23FC-CCBE-449B-215160EA021E}"/>
              </a:ext>
            </a:extLst>
          </p:cNvPr>
          <p:cNvSpPr/>
          <p:nvPr/>
        </p:nvSpPr>
        <p:spPr>
          <a:xfrm>
            <a:off x="859536" y="497433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C098F970-C49A-F2F5-7C57-12934E848741}"/>
              </a:ext>
            </a:extLst>
          </p:cNvPr>
          <p:cNvSpPr/>
          <p:nvPr/>
        </p:nvSpPr>
        <p:spPr>
          <a:xfrm>
            <a:off x="859536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C21</a:t>
            </a:r>
            <a:endParaRPr lang="en-US" sz="1200" dirty="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98168B67-F1A6-C234-E129-EA458372673E}"/>
              </a:ext>
            </a:extLst>
          </p:cNvPr>
          <p:cNvSpPr/>
          <p:nvPr/>
        </p:nvSpPr>
        <p:spPr>
          <a:xfrm>
            <a:off x="3877056" y="524865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F7FD551D-632B-E7D4-3659-88CB7D268141}"/>
              </a:ext>
            </a:extLst>
          </p:cNvPr>
          <p:cNvSpPr/>
          <p:nvPr/>
        </p:nvSpPr>
        <p:spPr>
          <a:xfrm>
            <a:off x="3877056" y="5248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C22</a:t>
            </a:r>
            <a:endParaRPr lang="en-US" sz="1200" dirty="0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E9295908-35FA-EED5-CA84-746B88FC9BB8}"/>
              </a:ext>
            </a:extLst>
          </p:cNvPr>
          <p:cNvSpPr/>
          <p:nvPr/>
        </p:nvSpPr>
        <p:spPr>
          <a:xfrm>
            <a:off x="1865376" y="607161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0" name="Text 128">
            <a:extLst>
              <a:ext uri="{FF2B5EF4-FFF2-40B4-BE49-F238E27FC236}">
                <a16:creationId xmlns:a16="http://schemas.microsoft.com/office/drawing/2014/main" id="{7F0BB7C6-299C-F1CD-14BE-D631BB43B017}"/>
              </a:ext>
            </a:extLst>
          </p:cNvPr>
          <p:cNvSpPr/>
          <p:nvPr/>
        </p:nvSpPr>
        <p:spPr>
          <a:xfrm>
            <a:off x="1865376" y="6071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C23</a:t>
            </a:r>
            <a:endParaRPr lang="en-US" sz="1200" dirty="0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4005AC31-B353-EFF7-5F4B-CB50F376A808}"/>
              </a:ext>
            </a:extLst>
          </p:cNvPr>
          <p:cNvSpPr/>
          <p:nvPr/>
        </p:nvSpPr>
        <p:spPr>
          <a:xfrm>
            <a:off x="3054096" y="6254496"/>
            <a:ext cx="475488" cy="47548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" name="Text 130">
            <a:extLst>
              <a:ext uri="{FF2B5EF4-FFF2-40B4-BE49-F238E27FC236}">
                <a16:creationId xmlns:a16="http://schemas.microsoft.com/office/drawing/2014/main" id="{F4524B1B-FF14-6BD6-24BF-1C2C1FA44A58}"/>
              </a:ext>
            </a:extLst>
          </p:cNvPr>
          <p:cNvSpPr/>
          <p:nvPr/>
        </p:nvSpPr>
        <p:spPr>
          <a:xfrm>
            <a:off x="3054096" y="6254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C24</a:t>
            </a:r>
            <a:endParaRPr lang="en-US" sz="1200" dirty="0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EF824808-985E-528B-BEA3-30523C08C175}"/>
              </a:ext>
            </a:extLst>
          </p:cNvPr>
          <p:cNvSpPr/>
          <p:nvPr/>
        </p:nvSpPr>
        <p:spPr>
          <a:xfrm>
            <a:off x="7478686" y="4783936"/>
            <a:ext cx="1260722" cy="336704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396AA4F4-F932-4C31-F9BA-05E281A51E91}"/>
              </a:ext>
            </a:extLst>
          </p:cNvPr>
          <p:cNvSpPr/>
          <p:nvPr/>
        </p:nvSpPr>
        <p:spPr>
          <a:xfrm>
            <a:off x="8754942" y="4949620"/>
            <a:ext cx="1764792" cy="40588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" name="Text 133">
            <a:extLst>
              <a:ext uri="{FF2B5EF4-FFF2-40B4-BE49-F238E27FC236}">
                <a16:creationId xmlns:a16="http://schemas.microsoft.com/office/drawing/2014/main" id="{263A2A1F-CF82-7020-33E3-85D600C010BF}"/>
              </a:ext>
            </a:extLst>
          </p:cNvPr>
          <p:cNvSpPr/>
          <p:nvPr/>
        </p:nvSpPr>
        <p:spPr>
          <a:xfrm>
            <a:off x="8814816" y="4988764"/>
            <a:ext cx="1764792" cy="40588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Natural Gas 143 MW</a:t>
            </a:r>
            <a:endParaRPr lang="en-US" sz="1250" dirty="0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23503C81-DA3F-A482-4258-E878440F9D97}"/>
              </a:ext>
            </a:extLst>
          </p:cNvPr>
          <p:cNvSpPr/>
          <p:nvPr/>
        </p:nvSpPr>
        <p:spPr>
          <a:xfrm>
            <a:off x="457200" y="548640"/>
            <a:ext cx="347472" cy="457200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7" name="Text 135">
            <a:extLst>
              <a:ext uri="{FF2B5EF4-FFF2-40B4-BE49-F238E27FC236}">
                <a16:creationId xmlns:a16="http://schemas.microsoft.com/office/drawing/2014/main" id="{7142F05C-E731-5A94-6ADC-822B302AB191}"/>
              </a:ext>
            </a:extLst>
          </p:cNvPr>
          <p:cNvSpPr/>
          <p:nvPr/>
        </p:nvSpPr>
        <p:spPr>
          <a:xfrm>
            <a:off x="411480" y="16459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138" name="Text 136">
            <a:extLst>
              <a:ext uri="{FF2B5EF4-FFF2-40B4-BE49-F238E27FC236}">
                <a16:creationId xmlns:a16="http://schemas.microsoft.com/office/drawing/2014/main" id="{D83EED44-DB14-2D9D-9866-6725DC41CF5A}"/>
              </a:ext>
            </a:extLst>
          </p:cNvPr>
          <p:cNvSpPr/>
          <p:nvPr/>
        </p:nvSpPr>
        <p:spPr>
          <a:xfrm>
            <a:off x="365760" y="1234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nodes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pipes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consumers</a:t>
            </a:r>
            <a:endParaRPr lang="en-US" sz="2000" dirty="0"/>
          </a:p>
        </p:txBody>
      </p:sp>
      <p:sp>
        <p:nvSpPr>
          <p:cNvPr id="139" name="Text 137">
            <a:extLst>
              <a:ext uri="{FF2B5EF4-FFF2-40B4-BE49-F238E27FC236}">
                <a16:creationId xmlns:a16="http://schemas.microsoft.com/office/drawing/2014/main" id="{653FF0FD-1096-B17B-D3FB-68C5DC0A6EE7}"/>
              </a:ext>
            </a:extLst>
          </p:cNvPr>
          <p:cNvSpPr/>
          <p:nvPr/>
        </p:nvSpPr>
        <p:spPr>
          <a:xfrm>
            <a:off x="36576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layout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(anonymized)</a:t>
            </a:r>
            <a:endParaRPr lang="en-US" sz="1200" dirty="0"/>
          </a:p>
        </p:txBody>
      </p:sp>
      <p:sp>
        <p:nvSpPr>
          <p:cNvPr id="140" name="Text 138">
            <a:extLst>
              <a:ext uri="{FF2B5EF4-FFF2-40B4-BE49-F238E27FC236}">
                <a16:creationId xmlns:a16="http://schemas.microsoft.com/office/drawing/2014/main" id="{7661E09C-FCD5-5174-D3C2-F24716616620}"/>
              </a:ext>
            </a:extLst>
          </p:cNvPr>
          <p:cNvSpPr/>
          <p:nvPr/>
        </p:nvSpPr>
        <p:spPr>
          <a:xfrm>
            <a:off x="12527280" y="365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ZONES</a:t>
            </a:r>
            <a:endParaRPr lang="en-US" sz="1300" dirty="0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0EB8120A-7501-486C-0FBA-804B9B6ACA3F}"/>
              </a:ext>
            </a:extLst>
          </p:cNvPr>
          <p:cNvSpPr/>
          <p:nvPr/>
        </p:nvSpPr>
        <p:spPr>
          <a:xfrm>
            <a:off x="12527280" y="859536"/>
            <a:ext cx="365760" cy="0"/>
          </a:xfrm>
          <a:prstGeom prst="line">
            <a:avLst/>
          </a:prstGeom>
          <a:noFill/>
          <a:ln w="444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2" name="Text 140">
            <a:extLst>
              <a:ext uri="{FF2B5EF4-FFF2-40B4-BE49-F238E27FC236}">
                <a16:creationId xmlns:a16="http://schemas.microsoft.com/office/drawing/2014/main" id="{8A4520D7-EFC4-AEE6-9DE3-BC00A3A15553}"/>
              </a:ext>
            </a:extLst>
          </p:cNvPr>
          <p:cNvSpPr/>
          <p:nvPr/>
        </p:nvSpPr>
        <p:spPr>
          <a:xfrm>
            <a:off x="13030200" y="749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1200" dirty="0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ACFD1537-043E-3CEA-65D7-30F4C8A06F47}"/>
              </a:ext>
            </a:extLst>
          </p:cNvPr>
          <p:cNvSpPr/>
          <p:nvPr/>
        </p:nvSpPr>
        <p:spPr>
          <a:xfrm>
            <a:off x="12527280" y="1207008"/>
            <a:ext cx="365760" cy="0"/>
          </a:xfrm>
          <a:prstGeom prst="line">
            <a:avLst/>
          </a:prstGeom>
          <a:noFill/>
          <a:ln w="444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4" name="Text 142">
            <a:extLst>
              <a:ext uri="{FF2B5EF4-FFF2-40B4-BE49-F238E27FC236}">
                <a16:creationId xmlns:a16="http://schemas.microsoft.com/office/drawing/2014/main" id="{3026C7FB-FBD9-8080-E0F6-9ED7994440EF}"/>
              </a:ext>
            </a:extLst>
          </p:cNvPr>
          <p:cNvSpPr/>
          <p:nvPr/>
        </p:nvSpPr>
        <p:spPr>
          <a:xfrm>
            <a:off x="1303020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1200" dirty="0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35D64571-57B9-50D7-FDEB-9A3369FA4459}"/>
              </a:ext>
            </a:extLst>
          </p:cNvPr>
          <p:cNvSpPr/>
          <p:nvPr/>
        </p:nvSpPr>
        <p:spPr>
          <a:xfrm>
            <a:off x="12527280" y="1554480"/>
            <a:ext cx="365760" cy="0"/>
          </a:xfrm>
          <a:prstGeom prst="line">
            <a:avLst/>
          </a:prstGeom>
          <a:noFill/>
          <a:ln w="44450">
            <a:solidFill>
              <a:srgbClr val="009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" name="Text 144">
            <a:extLst>
              <a:ext uri="{FF2B5EF4-FFF2-40B4-BE49-F238E27FC236}">
                <a16:creationId xmlns:a16="http://schemas.microsoft.com/office/drawing/2014/main" id="{2B510B96-30AA-4D7C-97F0-A15D527640A6}"/>
              </a:ext>
            </a:extLst>
          </p:cNvPr>
          <p:cNvSpPr/>
          <p:nvPr/>
        </p:nvSpPr>
        <p:spPr>
          <a:xfrm>
            <a:off x="1303020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1200" dirty="0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DCF9EC7B-A5C9-AD84-6219-68F793747040}"/>
              </a:ext>
            </a:extLst>
          </p:cNvPr>
          <p:cNvSpPr/>
          <p:nvPr/>
        </p:nvSpPr>
        <p:spPr>
          <a:xfrm>
            <a:off x="12527280" y="1901952"/>
            <a:ext cx="365760" cy="0"/>
          </a:xfrm>
          <a:prstGeom prst="line">
            <a:avLst/>
          </a:prstGeom>
          <a:noFill/>
          <a:ln w="44450">
            <a:solidFill>
              <a:srgbClr val="7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" name="Text 146">
            <a:extLst>
              <a:ext uri="{FF2B5EF4-FFF2-40B4-BE49-F238E27FC236}">
                <a16:creationId xmlns:a16="http://schemas.microsoft.com/office/drawing/2014/main" id="{DDB7E311-A218-958B-AA6D-117634A182D6}"/>
              </a:ext>
            </a:extLst>
          </p:cNvPr>
          <p:cNvSpPr/>
          <p:nvPr/>
        </p:nvSpPr>
        <p:spPr>
          <a:xfrm>
            <a:off x="1303020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1200" dirty="0"/>
          </a:p>
        </p:txBody>
      </p:sp>
      <p:sp>
        <p:nvSpPr>
          <p:cNvPr id="149" name="Text 147">
            <a:extLst>
              <a:ext uri="{FF2B5EF4-FFF2-40B4-BE49-F238E27FC236}">
                <a16:creationId xmlns:a16="http://schemas.microsoft.com/office/drawing/2014/main" id="{3AEFECD3-4644-B13C-8481-FD91C60119CB}"/>
              </a:ext>
            </a:extLst>
          </p:cNvPr>
          <p:cNvSpPr/>
          <p:nvPr/>
        </p:nvSpPr>
        <p:spPr>
          <a:xfrm>
            <a:off x="1252728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TYPES</a:t>
            </a:r>
            <a:endParaRPr lang="en-US" sz="1300" dirty="0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1FECDCA3-E78E-C619-30C6-3B890DCC9BE1}"/>
              </a:ext>
            </a:extLst>
          </p:cNvPr>
          <p:cNvSpPr/>
          <p:nvPr/>
        </p:nvSpPr>
        <p:spPr>
          <a:xfrm>
            <a:off x="12545568" y="2706624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1" name="Text 149">
            <a:extLst>
              <a:ext uri="{FF2B5EF4-FFF2-40B4-BE49-F238E27FC236}">
                <a16:creationId xmlns:a16="http://schemas.microsoft.com/office/drawing/2014/main" id="{6AADE091-052F-E5CC-C2AC-2BCFAAE1069E}"/>
              </a:ext>
            </a:extLst>
          </p:cNvPr>
          <p:cNvSpPr/>
          <p:nvPr/>
        </p:nvSpPr>
        <p:spPr>
          <a:xfrm>
            <a:off x="13030200" y="26609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(J1-J8)</a:t>
            </a:r>
            <a:endParaRPr lang="en-US" sz="1150" dirty="0"/>
          </a:p>
        </p:txBody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5B287733-326C-F141-50CF-211E6AE71598}"/>
              </a:ext>
            </a:extLst>
          </p:cNvPr>
          <p:cNvSpPr/>
          <p:nvPr/>
        </p:nvSpPr>
        <p:spPr>
          <a:xfrm>
            <a:off x="12554712" y="3099816"/>
            <a:ext cx="201168" cy="201168"/>
          </a:xfrm>
          <a:prstGeom prst="ellipse">
            <a:avLst/>
          </a:prstGeom>
          <a:solidFill>
            <a:srgbClr val="DCEAF7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" name="Text 151">
            <a:extLst>
              <a:ext uri="{FF2B5EF4-FFF2-40B4-BE49-F238E27FC236}">
                <a16:creationId xmlns:a16="http://schemas.microsoft.com/office/drawing/2014/main" id="{6DE66B0D-2601-E879-CBE8-7B7F1C8CCC03}"/>
              </a:ext>
            </a:extLst>
          </p:cNvPr>
          <p:cNvSpPr/>
          <p:nvPr/>
        </p:nvSpPr>
        <p:spPr>
          <a:xfrm>
            <a:off x="13030200" y="30449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(C1–C24)</a:t>
            </a:r>
            <a:endParaRPr lang="en-US" sz="1150" dirty="0"/>
          </a:p>
        </p:txBody>
      </p:sp>
      <p:sp>
        <p:nvSpPr>
          <p:cNvPr id="154" name="Text 152">
            <a:extLst>
              <a:ext uri="{FF2B5EF4-FFF2-40B4-BE49-F238E27FC236}">
                <a16:creationId xmlns:a16="http://schemas.microsoft.com/office/drawing/2014/main" id="{3B9ED06A-E2F7-3440-54D7-C64BC4E22AE1}"/>
              </a:ext>
            </a:extLst>
          </p:cNvPr>
          <p:cNvSpPr/>
          <p:nvPr/>
        </p:nvSpPr>
        <p:spPr>
          <a:xfrm>
            <a:off x="12527280" y="3593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300" dirty="0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B50BCD63-3C1B-E845-1812-CE54A09E4246}"/>
              </a:ext>
            </a:extLst>
          </p:cNvPr>
          <p:cNvSpPr/>
          <p:nvPr/>
        </p:nvSpPr>
        <p:spPr>
          <a:xfrm>
            <a:off x="12527280" y="3959352"/>
            <a:ext cx="274320" cy="2743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373AB811-007D-D05A-2CD9-014A9DD76121}"/>
              </a:ext>
            </a:extLst>
          </p:cNvPr>
          <p:cNvSpPr/>
          <p:nvPr/>
        </p:nvSpPr>
        <p:spPr>
          <a:xfrm>
            <a:off x="12582144" y="4014216"/>
            <a:ext cx="164592" cy="16459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7" name="Text 155">
            <a:extLst>
              <a:ext uri="{FF2B5EF4-FFF2-40B4-BE49-F238E27FC236}">
                <a16:creationId xmlns:a16="http://schemas.microsoft.com/office/drawing/2014/main" id="{EA5A52B1-FBDF-E477-50FA-7CF0546D0020}"/>
              </a:ext>
            </a:extLst>
          </p:cNvPr>
          <p:cNvSpPr/>
          <p:nvPr/>
        </p:nvSpPr>
        <p:spPr>
          <a:xfrm>
            <a:off x="13030200" y="3931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hub (P1)</a:t>
            </a:r>
            <a:endParaRPr lang="en-US" sz="1150" dirty="0"/>
          </a:p>
        </p:txBody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DEEAB212-8019-AA99-91A6-1B201C640A0D}"/>
              </a:ext>
            </a:extLst>
          </p:cNvPr>
          <p:cNvSpPr/>
          <p:nvPr/>
        </p:nvSpPr>
        <p:spPr>
          <a:xfrm>
            <a:off x="12545568" y="4434840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9" name="Text 157">
            <a:extLst>
              <a:ext uri="{FF2B5EF4-FFF2-40B4-BE49-F238E27FC236}">
                <a16:creationId xmlns:a16="http://schemas.microsoft.com/office/drawing/2014/main" id="{3C3D07A6-1B59-2113-13E1-3BC0FEE29C68}"/>
              </a:ext>
            </a:extLst>
          </p:cNvPr>
          <p:cNvSpPr/>
          <p:nvPr/>
        </p:nvSpPr>
        <p:spPr>
          <a:xfrm>
            <a:off x="13030200" y="4389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station (P2–P5)</a:t>
            </a:r>
            <a:endParaRPr lang="en-US" sz="1150" dirty="0"/>
          </a:p>
        </p:txBody>
      </p:sp>
      <p:sp>
        <p:nvSpPr>
          <p:cNvPr id="160" name="Text 158">
            <a:extLst>
              <a:ext uri="{FF2B5EF4-FFF2-40B4-BE49-F238E27FC236}">
                <a16:creationId xmlns:a16="http://schemas.microsoft.com/office/drawing/2014/main" id="{82710EBD-0990-05D8-7E41-CA86693FDEEC}"/>
              </a:ext>
            </a:extLst>
          </p:cNvPr>
          <p:cNvSpPr/>
          <p:nvPr/>
        </p:nvSpPr>
        <p:spPr>
          <a:xfrm>
            <a:off x="365760" y="9692640"/>
            <a:ext cx="1188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topology — arranged by network zone. Connectivity = MILP tree (30 nodes / 29 pipes). All identifiers anonymized.</a:t>
            </a:r>
            <a:endParaRPr lang="en-US" sz="1000" dirty="0"/>
          </a:p>
        </p:txBody>
      </p:sp>
      <p:sp>
        <p:nvSpPr>
          <p:cNvPr id="162" name="Shape 131">
            <a:extLst>
              <a:ext uri="{FF2B5EF4-FFF2-40B4-BE49-F238E27FC236}">
                <a16:creationId xmlns:a16="http://schemas.microsoft.com/office/drawing/2014/main" id="{94C76219-3664-2B5A-9979-44B8FFB25CA9}"/>
              </a:ext>
            </a:extLst>
          </p:cNvPr>
          <p:cNvSpPr/>
          <p:nvPr/>
        </p:nvSpPr>
        <p:spPr>
          <a:xfrm flipH="1" flipV="1">
            <a:off x="8679534" y="841248"/>
            <a:ext cx="1214272" cy="375056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63" name="Shape 132">
            <a:extLst>
              <a:ext uri="{FF2B5EF4-FFF2-40B4-BE49-F238E27FC236}">
                <a16:creationId xmlns:a16="http://schemas.microsoft.com/office/drawing/2014/main" id="{43FA42A5-33D2-948C-C5E4-4EF6E5ED97BB}"/>
              </a:ext>
            </a:extLst>
          </p:cNvPr>
          <p:cNvSpPr/>
          <p:nvPr/>
        </p:nvSpPr>
        <p:spPr>
          <a:xfrm>
            <a:off x="6804363" y="414147"/>
            <a:ext cx="1875171" cy="640752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" name="Text 133">
            <a:extLst>
              <a:ext uri="{FF2B5EF4-FFF2-40B4-BE49-F238E27FC236}">
                <a16:creationId xmlns:a16="http://schemas.microsoft.com/office/drawing/2014/main" id="{30BAC7EB-E3CE-1334-A989-93A2E99A67DB}"/>
              </a:ext>
            </a:extLst>
          </p:cNvPr>
          <p:cNvSpPr/>
          <p:nvPr/>
        </p:nvSpPr>
        <p:spPr>
          <a:xfrm>
            <a:off x="6785849" y="453291"/>
            <a:ext cx="1953560" cy="640752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Waste to Energy 45 MW</a:t>
            </a:r>
          </a:p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Biomass 14,5 MW</a:t>
            </a:r>
            <a:endParaRPr lang="en-US" sz="1250" dirty="0"/>
          </a:p>
        </p:txBody>
      </p:sp>
      <p:sp>
        <p:nvSpPr>
          <p:cNvPr id="165" name="Shape 132">
            <a:extLst>
              <a:ext uri="{FF2B5EF4-FFF2-40B4-BE49-F238E27FC236}">
                <a16:creationId xmlns:a16="http://schemas.microsoft.com/office/drawing/2014/main" id="{A09A09A0-538F-ECD1-B6E5-D77D54439376}"/>
              </a:ext>
            </a:extLst>
          </p:cNvPr>
          <p:cNvSpPr/>
          <p:nvPr/>
        </p:nvSpPr>
        <p:spPr>
          <a:xfrm>
            <a:off x="10579608" y="3559881"/>
            <a:ext cx="1632204" cy="41232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66" name="Text 133">
            <a:extLst>
              <a:ext uri="{FF2B5EF4-FFF2-40B4-BE49-F238E27FC236}">
                <a16:creationId xmlns:a16="http://schemas.microsoft.com/office/drawing/2014/main" id="{4E73038A-EDDE-6CD7-55E6-28CB80288BC4}"/>
              </a:ext>
            </a:extLst>
          </p:cNvPr>
          <p:cNvSpPr/>
          <p:nvPr/>
        </p:nvSpPr>
        <p:spPr>
          <a:xfrm>
            <a:off x="10579608" y="3599025"/>
            <a:ext cx="1632204" cy="373181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Natural Gas 35MW</a:t>
            </a:r>
            <a:endParaRPr lang="en-US" sz="1250" dirty="0"/>
          </a:p>
        </p:txBody>
      </p:sp>
      <p:sp>
        <p:nvSpPr>
          <p:cNvPr id="167" name="Shape 131">
            <a:extLst>
              <a:ext uri="{FF2B5EF4-FFF2-40B4-BE49-F238E27FC236}">
                <a16:creationId xmlns:a16="http://schemas.microsoft.com/office/drawing/2014/main" id="{5AAE2C4C-5243-CAF9-F087-CF55796634C8}"/>
              </a:ext>
            </a:extLst>
          </p:cNvPr>
          <p:cNvSpPr/>
          <p:nvPr/>
        </p:nvSpPr>
        <p:spPr>
          <a:xfrm>
            <a:off x="11576304" y="2267712"/>
            <a:ext cx="219456" cy="1283072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75" name="Shape 62">
            <a:extLst>
              <a:ext uri="{FF2B5EF4-FFF2-40B4-BE49-F238E27FC236}">
                <a16:creationId xmlns:a16="http://schemas.microsoft.com/office/drawing/2014/main" id="{B4E0E041-32F0-59ED-604D-06F04D139C1D}"/>
              </a:ext>
            </a:extLst>
          </p:cNvPr>
          <p:cNvSpPr/>
          <p:nvPr/>
        </p:nvSpPr>
        <p:spPr>
          <a:xfrm>
            <a:off x="9780754" y="759104"/>
            <a:ext cx="91440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" name="Shape 63">
            <a:extLst>
              <a:ext uri="{FF2B5EF4-FFF2-40B4-BE49-F238E27FC236}">
                <a16:creationId xmlns:a16="http://schemas.microsoft.com/office/drawing/2014/main" id="{E26CEE36-743C-7099-F118-8F44C6A88468}"/>
              </a:ext>
            </a:extLst>
          </p:cNvPr>
          <p:cNvSpPr/>
          <p:nvPr/>
        </p:nvSpPr>
        <p:spPr>
          <a:xfrm>
            <a:off x="9890482" y="868832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7" name="Text 64">
            <a:extLst>
              <a:ext uri="{FF2B5EF4-FFF2-40B4-BE49-F238E27FC236}">
                <a16:creationId xmlns:a16="http://schemas.microsoft.com/office/drawing/2014/main" id="{636A84A4-FE03-E0D1-B8EF-A49DA0FBBCA2}"/>
              </a:ext>
            </a:extLst>
          </p:cNvPr>
          <p:cNvSpPr/>
          <p:nvPr/>
        </p:nvSpPr>
        <p:spPr>
          <a:xfrm>
            <a:off x="9890482" y="86883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</a:t>
            </a:r>
            <a:endParaRPr lang="en-US" sz="1600" dirty="0"/>
          </a:p>
        </p:txBody>
      </p:sp>
      <p:sp>
        <p:nvSpPr>
          <p:cNvPr id="178" name="Shape 62">
            <a:extLst>
              <a:ext uri="{FF2B5EF4-FFF2-40B4-BE49-F238E27FC236}">
                <a16:creationId xmlns:a16="http://schemas.microsoft.com/office/drawing/2014/main" id="{4DB7019C-18F3-6FD9-EE52-0F35C64162C8}"/>
              </a:ext>
            </a:extLst>
          </p:cNvPr>
          <p:cNvSpPr/>
          <p:nvPr/>
        </p:nvSpPr>
        <p:spPr>
          <a:xfrm>
            <a:off x="11092340" y="1641949"/>
            <a:ext cx="91440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" name="Shape 63">
            <a:extLst>
              <a:ext uri="{FF2B5EF4-FFF2-40B4-BE49-F238E27FC236}">
                <a16:creationId xmlns:a16="http://schemas.microsoft.com/office/drawing/2014/main" id="{4FFCD400-E6A2-53DF-D3C8-9BB6D915B4BB}"/>
              </a:ext>
            </a:extLst>
          </p:cNvPr>
          <p:cNvSpPr/>
          <p:nvPr/>
        </p:nvSpPr>
        <p:spPr>
          <a:xfrm>
            <a:off x="11202068" y="1751677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0" name="Text 64">
            <a:extLst>
              <a:ext uri="{FF2B5EF4-FFF2-40B4-BE49-F238E27FC236}">
                <a16:creationId xmlns:a16="http://schemas.microsoft.com/office/drawing/2014/main" id="{65069EB6-6C84-0397-7FAA-6E449FE35BA8}"/>
              </a:ext>
            </a:extLst>
          </p:cNvPr>
          <p:cNvSpPr/>
          <p:nvPr/>
        </p:nvSpPr>
        <p:spPr>
          <a:xfrm>
            <a:off x="11202068" y="1751677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J2</a:t>
            </a:r>
            <a:endParaRPr lang="en-US" sz="1600" dirty="0"/>
          </a:p>
        </p:txBody>
      </p:sp>
      <p:sp>
        <p:nvSpPr>
          <p:cNvPr id="181" name="Shape 62">
            <a:extLst>
              <a:ext uri="{FF2B5EF4-FFF2-40B4-BE49-F238E27FC236}">
                <a16:creationId xmlns:a16="http://schemas.microsoft.com/office/drawing/2014/main" id="{EC6E5F81-3EC5-1C8F-5D36-3B359D743041}"/>
              </a:ext>
            </a:extLst>
          </p:cNvPr>
          <p:cNvSpPr/>
          <p:nvPr/>
        </p:nvSpPr>
        <p:spPr>
          <a:xfrm>
            <a:off x="2026333" y="4416589"/>
            <a:ext cx="91440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2" name="Shape 63">
            <a:extLst>
              <a:ext uri="{FF2B5EF4-FFF2-40B4-BE49-F238E27FC236}">
                <a16:creationId xmlns:a16="http://schemas.microsoft.com/office/drawing/2014/main" id="{B626D107-35A3-9E13-E369-7B02DCA0339B}"/>
              </a:ext>
            </a:extLst>
          </p:cNvPr>
          <p:cNvSpPr/>
          <p:nvPr/>
        </p:nvSpPr>
        <p:spPr>
          <a:xfrm>
            <a:off x="2136061" y="4526317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3" name="Text 64">
            <a:extLst>
              <a:ext uri="{FF2B5EF4-FFF2-40B4-BE49-F238E27FC236}">
                <a16:creationId xmlns:a16="http://schemas.microsoft.com/office/drawing/2014/main" id="{99FE8F34-670E-2976-8C3D-7AF25ACF7B9F}"/>
              </a:ext>
            </a:extLst>
          </p:cNvPr>
          <p:cNvSpPr/>
          <p:nvPr/>
        </p:nvSpPr>
        <p:spPr>
          <a:xfrm>
            <a:off x="2136061" y="4526317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J6</a:t>
            </a:r>
            <a:endParaRPr lang="en-US" sz="1600" dirty="0"/>
          </a:p>
        </p:txBody>
      </p:sp>
      <p:sp>
        <p:nvSpPr>
          <p:cNvPr id="184" name="Shape 62">
            <a:extLst>
              <a:ext uri="{FF2B5EF4-FFF2-40B4-BE49-F238E27FC236}">
                <a16:creationId xmlns:a16="http://schemas.microsoft.com/office/drawing/2014/main" id="{E28A9692-90FA-2763-9A32-F29D216A9196}"/>
              </a:ext>
            </a:extLst>
          </p:cNvPr>
          <p:cNvSpPr/>
          <p:nvPr/>
        </p:nvSpPr>
        <p:spPr>
          <a:xfrm>
            <a:off x="6146519" y="7788115"/>
            <a:ext cx="91440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5" name="Shape 63">
            <a:extLst>
              <a:ext uri="{FF2B5EF4-FFF2-40B4-BE49-F238E27FC236}">
                <a16:creationId xmlns:a16="http://schemas.microsoft.com/office/drawing/2014/main" id="{16FA2B91-3567-E370-D751-66FAC78833C6}"/>
              </a:ext>
            </a:extLst>
          </p:cNvPr>
          <p:cNvSpPr/>
          <p:nvPr/>
        </p:nvSpPr>
        <p:spPr>
          <a:xfrm>
            <a:off x="6256247" y="7897843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6" name="Text 64">
            <a:extLst>
              <a:ext uri="{FF2B5EF4-FFF2-40B4-BE49-F238E27FC236}">
                <a16:creationId xmlns:a16="http://schemas.microsoft.com/office/drawing/2014/main" id="{A48A8DFE-5EFA-5867-7114-9162DED4E103}"/>
              </a:ext>
            </a:extLst>
          </p:cNvPr>
          <p:cNvSpPr/>
          <p:nvPr/>
        </p:nvSpPr>
        <p:spPr>
          <a:xfrm>
            <a:off x="6256247" y="7897843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J8</a:t>
            </a:r>
            <a:endParaRPr lang="en-US" sz="1600" dirty="0"/>
          </a:p>
        </p:txBody>
      </p:sp>
      <p:sp>
        <p:nvSpPr>
          <p:cNvPr id="188" name="Shape 132">
            <a:extLst>
              <a:ext uri="{FF2B5EF4-FFF2-40B4-BE49-F238E27FC236}">
                <a16:creationId xmlns:a16="http://schemas.microsoft.com/office/drawing/2014/main" id="{F9A63A5B-2175-62DD-4DB3-FA55935C8CD0}"/>
              </a:ext>
            </a:extLst>
          </p:cNvPr>
          <p:cNvSpPr/>
          <p:nvPr/>
        </p:nvSpPr>
        <p:spPr>
          <a:xfrm>
            <a:off x="8768306" y="7422942"/>
            <a:ext cx="1764792" cy="40588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9" name="Text 133">
            <a:extLst>
              <a:ext uri="{FF2B5EF4-FFF2-40B4-BE49-F238E27FC236}">
                <a16:creationId xmlns:a16="http://schemas.microsoft.com/office/drawing/2014/main" id="{699E41D2-C178-AFC2-5A51-0482D1DE10CE}"/>
              </a:ext>
            </a:extLst>
          </p:cNvPr>
          <p:cNvSpPr/>
          <p:nvPr/>
        </p:nvSpPr>
        <p:spPr>
          <a:xfrm>
            <a:off x="8828180" y="7462086"/>
            <a:ext cx="1764792" cy="40588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Natural Gas 40 MW</a:t>
            </a:r>
            <a:endParaRPr lang="en-US" sz="1250" dirty="0"/>
          </a:p>
        </p:txBody>
      </p:sp>
      <p:sp>
        <p:nvSpPr>
          <p:cNvPr id="190" name="Shape 131">
            <a:extLst>
              <a:ext uri="{FF2B5EF4-FFF2-40B4-BE49-F238E27FC236}">
                <a16:creationId xmlns:a16="http://schemas.microsoft.com/office/drawing/2014/main" id="{A6441CE8-771A-CF84-45AA-181C9F32294C}"/>
              </a:ext>
            </a:extLst>
          </p:cNvPr>
          <p:cNvSpPr/>
          <p:nvPr/>
        </p:nvSpPr>
        <p:spPr>
          <a:xfrm flipV="1">
            <a:off x="7040880" y="7644894"/>
            <a:ext cx="1698528" cy="401826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92" name="Shape 132">
            <a:extLst>
              <a:ext uri="{FF2B5EF4-FFF2-40B4-BE49-F238E27FC236}">
                <a16:creationId xmlns:a16="http://schemas.microsoft.com/office/drawing/2014/main" id="{1FF575C0-5E34-B224-23CE-60F2E0F2DD8E}"/>
              </a:ext>
            </a:extLst>
          </p:cNvPr>
          <p:cNvSpPr/>
          <p:nvPr/>
        </p:nvSpPr>
        <p:spPr>
          <a:xfrm>
            <a:off x="8760760" y="6166523"/>
            <a:ext cx="1764792" cy="40588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3" name="Text 133">
            <a:extLst>
              <a:ext uri="{FF2B5EF4-FFF2-40B4-BE49-F238E27FC236}">
                <a16:creationId xmlns:a16="http://schemas.microsoft.com/office/drawing/2014/main" id="{499F696A-06D7-76A4-1356-0B0AAB1C666A}"/>
              </a:ext>
            </a:extLst>
          </p:cNvPr>
          <p:cNvSpPr/>
          <p:nvPr/>
        </p:nvSpPr>
        <p:spPr>
          <a:xfrm>
            <a:off x="8820634" y="6205667"/>
            <a:ext cx="1764792" cy="40588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Pumpstation south </a:t>
            </a:r>
            <a:endParaRPr lang="en-US" sz="1250" dirty="0"/>
          </a:p>
        </p:txBody>
      </p:sp>
      <p:sp>
        <p:nvSpPr>
          <p:cNvPr id="194" name="Shape 131">
            <a:extLst>
              <a:ext uri="{FF2B5EF4-FFF2-40B4-BE49-F238E27FC236}">
                <a16:creationId xmlns:a16="http://schemas.microsoft.com/office/drawing/2014/main" id="{CA69ABE4-3EDC-EF4A-4F9E-3459EDE68A84}"/>
              </a:ext>
            </a:extLst>
          </p:cNvPr>
          <p:cNvSpPr/>
          <p:nvPr/>
        </p:nvSpPr>
        <p:spPr>
          <a:xfrm>
            <a:off x="7003576" y="6173619"/>
            <a:ext cx="1735832" cy="181460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95" name="Shape 132">
            <a:extLst>
              <a:ext uri="{FF2B5EF4-FFF2-40B4-BE49-F238E27FC236}">
                <a16:creationId xmlns:a16="http://schemas.microsoft.com/office/drawing/2014/main" id="{70B7FEC2-B664-79B6-DE10-89547458E7A4}"/>
              </a:ext>
            </a:extLst>
          </p:cNvPr>
          <p:cNvSpPr/>
          <p:nvPr/>
        </p:nvSpPr>
        <p:spPr>
          <a:xfrm>
            <a:off x="4321853" y="2048587"/>
            <a:ext cx="1764792" cy="40588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" name="Text 133">
            <a:extLst>
              <a:ext uri="{FF2B5EF4-FFF2-40B4-BE49-F238E27FC236}">
                <a16:creationId xmlns:a16="http://schemas.microsoft.com/office/drawing/2014/main" id="{F8E5FCD8-2639-8CB7-D155-9F7C7FBC0B63}"/>
              </a:ext>
            </a:extLst>
          </p:cNvPr>
          <p:cNvSpPr/>
          <p:nvPr/>
        </p:nvSpPr>
        <p:spPr>
          <a:xfrm>
            <a:off x="4381727" y="2087731"/>
            <a:ext cx="1764792" cy="40588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Pumpstation west </a:t>
            </a:r>
            <a:endParaRPr lang="en-US" sz="1250" dirty="0"/>
          </a:p>
        </p:txBody>
      </p:sp>
      <p:sp>
        <p:nvSpPr>
          <p:cNvPr id="197" name="Shape 131">
            <a:extLst>
              <a:ext uri="{FF2B5EF4-FFF2-40B4-BE49-F238E27FC236}">
                <a16:creationId xmlns:a16="http://schemas.microsoft.com/office/drawing/2014/main" id="{91AF548E-B82C-7EE5-D35E-8AAD251641A5}"/>
              </a:ext>
            </a:extLst>
          </p:cNvPr>
          <p:cNvSpPr/>
          <p:nvPr/>
        </p:nvSpPr>
        <p:spPr>
          <a:xfrm flipV="1">
            <a:off x="4958363" y="2468879"/>
            <a:ext cx="253716" cy="2014348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98" name="Shape 132">
            <a:extLst>
              <a:ext uri="{FF2B5EF4-FFF2-40B4-BE49-F238E27FC236}">
                <a16:creationId xmlns:a16="http://schemas.microsoft.com/office/drawing/2014/main" id="{F040C068-780E-6E0C-3451-DACAD8012B00}"/>
              </a:ext>
            </a:extLst>
          </p:cNvPr>
          <p:cNvSpPr/>
          <p:nvPr/>
        </p:nvSpPr>
        <p:spPr>
          <a:xfrm>
            <a:off x="658867" y="6969100"/>
            <a:ext cx="1764792" cy="40588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2C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9" name="Text 133">
            <a:extLst>
              <a:ext uri="{FF2B5EF4-FFF2-40B4-BE49-F238E27FC236}">
                <a16:creationId xmlns:a16="http://schemas.microsoft.com/office/drawing/2014/main" id="{3C29DFB0-0970-BD1F-FFE8-8B1656DCAEDC}"/>
              </a:ext>
            </a:extLst>
          </p:cNvPr>
          <p:cNvSpPr/>
          <p:nvPr/>
        </p:nvSpPr>
        <p:spPr>
          <a:xfrm>
            <a:off x="718741" y="7008244"/>
            <a:ext cx="1764792" cy="40588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Natural Gas 64 MW</a:t>
            </a:r>
            <a:endParaRPr lang="en-US" sz="1250" dirty="0"/>
          </a:p>
        </p:txBody>
      </p:sp>
      <p:sp>
        <p:nvSpPr>
          <p:cNvPr id="200" name="Shape 131">
            <a:extLst>
              <a:ext uri="{FF2B5EF4-FFF2-40B4-BE49-F238E27FC236}">
                <a16:creationId xmlns:a16="http://schemas.microsoft.com/office/drawing/2014/main" id="{39918269-A721-7428-1412-1866F259F3B2}"/>
              </a:ext>
            </a:extLst>
          </p:cNvPr>
          <p:cNvSpPr/>
          <p:nvPr/>
        </p:nvSpPr>
        <p:spPr>
          <a:xfrm flipV="1">
            <a:off x="1426464" y="5221260"/>
            <a:ext cx="739437" cy="1747838"/>
          </a:xfrm>
          <a:prstGeom prst="line">
            <a:avLst/>
          </a:prstGeom>
          <a:noFill/>
          <a:ln w="12700">
            <a:solidFill>
              <a:srgbClr val="0F2C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32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Benutzerdefiniert</PresentationFormat>
  <Paragraphs>180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District Heating Network Topology</dc:title>
  <dc:subject>PptxGenJS Presentation</dc:subject>
  <dc:creator>Anonymized</dc:creator>
  <cp:lastModifiedBy>Ruess, Lukas</cp:lastModifiedBy>
  <cp:revision>2</cp:revision>
  <dcterms:created xsi:type="dcterms:W3CDTF">2026-06-23T07:51:45Z</dcterms:created>
  <dcterms:modified xsi:type="dcterms:W3CDTF">2026-06-24T06:58:52Z</dcterms:modified>
</cp:coreProperties>
</file>